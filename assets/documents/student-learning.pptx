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66" r:id="rId4"/>
    <p:sldId id="258" r:id="rId5"/>
    <p:sldId id="265" r:id="rId6"/>
    <p:sldId id="259" r:id="rId7"/>
    <p:sldId id="260" r:id="rId8"/>
    <p:sldId id="261" r:id="rId9"/>
    <p:sldId id="262" r:id="rId10"/>
    <p:sldId id="264" r:id="rId11"/>
    <p:sldId id="263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5E8EC"/>
    <a:srgbClr val="F28E86"/>
    <a:srgbClr val="BC0000"/>
    <a:srgbClr val="EF7167"/>
    <a:srgbClr val="FF504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52" d="100"/>
          <a:sy n="152" d="100"/>
        </p:scale>
        <p:origin x="604" y="1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6768712-BCD1-4B0A-BAEF-87DC2EF031E3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1C32FF8-E828-415D-8E76-28DCE5A868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39884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174ABE-918D-3568-58DD-8D582C17B0C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AA93E77-9F42-09E2-052D-8A8E1802F26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E47FB5-CFD0-1E94-B728-C99D4255B0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0097C0-6331-415F-AD4C-E83B0D9C119E}" type="datetime1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4E5E82-D261-783D-2D01-D65BE30CC4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546530-52FC-D357-BF31-D755A21DE9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B9DE9F-8B04-4C5E-BF82-97AB5AC719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51166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DF3C7B-535C-50BC-5FB9-57335353C9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8FE18D-72A5-ABA3-9ADC-78CEC227B0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24A0AC6-C651-7633-6010-1534323BF4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EA045D-7427-472E-8FD8-597C682D2ED5}" type="datetime1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A13EA0-DC94-12C1-9118-DEE1151B8C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B9A57E5-46A7-B09F-D6EB-D8D5DE9FFA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B9DE9F-8B04-4C5E-BF82-97AB5AC719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1256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4AE4EF-F70C-AD4B-B719-5A451ADFAE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A5ACCEF-6253-998F-FA61-DC217CAC71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0C11C3-9765-3CE8-7379-AEF36AE60A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76B683-46B4-4B40-AA29-037E44502D5C}" type="datetime1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C32C06-33BD-A694-6E56-E38EBC3733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A768A5E-D32C-A705-9856-8731AA24C8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B9DE9F-8B04-4C5E-BF82-97AB5AC719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12949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CDB1B4-6AEF-99D2-2C18-ECE77648E4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CA658C-D682-2308-6CD4-539004B9336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D48C4D4-AE61-01B2-398B-1F23867DD3D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83A4EBB-BA9D-6F8A-0839-92DEEC9E9B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79D28A-AA2A-4904-9771-39C1671ABA5B}" type="datetime1">
              <a:rPr lang="en-US" smtClean="0"/>
              <a:t>9/10/2026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F66FB60-FE73-F09E-DA06-D3E6F16590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C4977B-D286-3A75-3457-80846680D7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B9DE9F-8B04-4C5E-BF82-97AB5AC719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02989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52D7D8-D609-E1C5-7069-46B55F3215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9E8F57-87E8-6B7E-44B7-E8B7B9C65AD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D8C39E8-1ADE-7D6C-C3F7-EA67A1E08E8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5F51BC3-E786-2742-002C-F4EE9895C04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521EA0B-4B95-B433-A4BB-CB301570495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1725DD3-A860-7F9F-DF4D-3BC28B7897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7959D4-4073-4C7E-B88D-01B55AC2583A}" type="datetime1">
              <a:rPr lang="en-US" smtClean="0"/>
              <a:t>9/10/2026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1DFB51F-185A-38E4-D905-311ED276C6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67D1E79-075F-DC76-BC4E-99A3F23C6F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B9DE9F-8B04-4C5E-BF82-97AB5AC719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25746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8E8186-F71F-A71D-F6A9-E0B5D7DFDF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4ABCD11-125B-3532-DC54-E14CB8778E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0B3174-1F6C-44A8-9802-86A6F7964C5A}" type="datetime1">
              <a:rPr lang="en-US" smtClean="0"/>
              <a:t>9/10/2026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3E39CDE-A258-8C67-654B-461F95BC60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D6A0EDD-959C-00CB-55AB-5384342718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B9DE9F-8B04-4C5E-BF82-97AB5AC719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09178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4D09D10-9BDD-1BD8-C252-6BA80E2C64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4685D1-F0BC-4A18-876C-3610866AC851}" type="datetime1">
              <a:rPr lang="en-US" smtClean="0"/>
              <a:t>9/10/2026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965F37C-5992-8A1D-6FE6-1A95A5869A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1366786-319B-F538-47B5-B8BB5F984D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B9DE9F-8B04-4C5E-BF82-97AB5AC719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34016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F6AE6B-E5F9-CFCF-5C56-43796DBFDE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D8C7FA-8E30-B10F-C322-BFE1DF7991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24224E1-2DE6-4D6A-03BA-997F477E17E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2102A6B-FCA9-F2A2-8F64-190F0D936B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ECF426-11B0-4197-B845-0CEDF54DE5F9}" type="datetime1">
              <a:rPr lang="en-US" smtClean="0"/>
              <a:t>9/10/2026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0EFCD01-7166-B581-1008-A7FA8BD85D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B6D04B4-0871-697D-FB60-38F566DE20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B9DE9F-8B04-4C5E-BF82-97AB5AC719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30104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A5F12C-B212-552F-F824-08BCAA8B0A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B346F6E-6524-7EE4-53E1-F43EB2919D0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F724D91-94A0-439E-F26E-5484F559FCB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1AE4F25-DAD8-CE44-55E1-BDE262524A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1CC9D4-480C-4B04-8636-5DF75C4C6B14}" type="datetime1">
              <a:rPr lang="en-US" smtClean="0"/>
              <a:t>9/10/2026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DD7034A-65CE-72F5-D2F8-0D06D4849B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9AB8AE0-3FB7-8535-E479-1760390BF4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B9DE9F-8B04-4C5E-BF82-97AB5AC719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15231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634337-E763-0FC9-467A-452653E99C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E605C46-6EA2-97C8-1091-E8435E03561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A495D8F-5A60-6A54-F51F-85099248B1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276500-CC18-413A-A0DB-B858D7815BE1}" type="datetime1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074FEF-1A2E-6722-97DD-53D6026877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FDAF1DD-FB8A-80C2-C293-F977A4B946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B9DE9F-8B04-4C5E-BF82-97AB5AC719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93482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98A930D-4A73-1FA2-01DF-C439AA5F666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1C56E58-A500-F679-9AF0-9B326AE8630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B3422C-AB25-0A21-4A1C-70157C49DC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801157-2C89-4B1C-BE86-583DE011412C}" type="datetime1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35A3F35-721B-80AF-88DD-01826E7531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28B5C0-88FF-73B1-022B-B41AECBC91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B9DE9F-8B04-4C5E-BF82-97AB5AC719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34465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4C02464-A77C-8948-3907-64BC358E51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27422FE-7170-FB5A-D521-408E95E27C0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9C1B515-76F4-4048-D337-3EFE18A8228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00E5373-9E9C-496A-B642-84AC81BBB2EC}" type="datetime1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5BB4229-1380-7E48-8E39-547B9685EA4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DEB1463-FE6C-4B60-6FF3-C222AC28158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3B9DE9F-8B04-4C5E-BF82-97AB5AC719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67827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jpe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DF05ACD0-FF4A-4F8F-B5C5-6A4EBD0D1B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C9AFA28-B5ED-4346-9AF7-68A157F16C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5800" y="685800"/>
            <a:ext cx="10820400" cy="54864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2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3D04D54-522C-E936-B1B1-57647949E95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5799" y="1781589"/>
            <a:ext cx="5530442" cy="1887973"/>
          </a:xfrm>
        </p:spPr>
        <p:txBody>
          <a:bodyPr anchor="b">
            <a:normAutofit/>
          </a:bodyPr>
          <a:lstStyle/>
          <a:p>
            <a:r>
              <a:rPr lang="en-US" sz="4000" dirty="0"/>
              <a:t>Why Didn’t Maya Learn?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156DAA9-43B6-7A30-1E68-1072B0938C7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8117" y="4012461"/>
            <a:ext cx="3392213" cy="840570"/>
          </a:xfrm>
        </p:spPr>
        <p:txBody>
          <a:bodyPr anchor="t">
            <a:normAutofit/>
          </a:bodyPr>
          <a:lstStyle/>
          <a:p>
            <a:pPr algn="l"/>
            <a:r>
              <a:rPr lang="en-US" sz="1400" dirty="0">
                <a:solidFill>
                  <a:srgbClr val="595959"/>
                </a:solidFill>
              </a:rPr>
              <a:t>Presenter - Mohammed Yusuf Mujawar</a:t>
            </a:r>
          </a:p>
          <a:p>
            <a:pPr algn="l"/>
            <a:r>
              <a:rPr lang="en-US" sz="1400" dirty="0">
                <a:solidFill>
                  <a:srgbClr val="595959"/>
                </a:solidFill>
              </a:rPr>
              <a:t>Course - AHE 603</a:t>
            </a:r>
          </a:p>
        </p:txBody>
      </p:sp>
      <p:pic>
        <p:nvPicPr>
          <p:cNvPr id="6" name="Graphic 5" descr="School girl outline">
            <a:extLst>
              <a:ext uri="{FF2B5EF4-FFF2-40B4-BE49-F238E27FC236}">
                <a16:creationId xmlns:a16="http://schemas.microsoft.com/office/drawing/2014/main" id="{9462613D-46C1-3ECB-E89D-3EB7EAC5649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810935" y="1419785"/>
            <a:ext cx="4018430" cy="4018430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F2C33AC-3665-E731-A19D-222E04CE60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80576" y="6356350"/>
            <a:ext cx="27432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63B9DE9F-8B04-4C5E-BF82-97AB5AC7190B}" type="slidenum">
              <a:rPr lang="en-US" sz="900"/>
              <a:pPr>
                <a:spcAft>
                  <a:spcPts val="600"/>
                </a:spcAft>
              </a:pPr>
              <a:t>1</a:t>
            </a:fld>
            <a:endParaRPr lang="en-US" sz="900"/>
          </a:p>
        </p:txBody>
      </p:sp>
      <p:sp>
        <p:nvSpPr>
          <p:cNvPr id="8" name="Text 8">
            <a:extLst>
              <a:ext uri="{FF2B5EF4-FFF2-40B4-BE49-F238E27FC236}">
                <a16:creationId xmlns:a16="http://schemas.microsoft.com/office/drawing/2014/main" id="{A39F4620-7B0D-2B7C-E4F6-3794B8F626F9}"/>
              </a:ext>
            </a:extLst>
          </p:cNvPr>
          <p:cNvSpPr/>
          <p:nvPr/>
        </p:nvSpPr>
        <p:spPr>
          <a:xfrm>
            <a:off x="1024128" y="3461617"/>
            <a:ext cx="6318504" cy="59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666666"/>
                </a:solidFill>
              </a:rPr>
              <a:t>Understanding student learning through one student’s journey</a:t>
            </a:r>
            <a:endParaRPr lang="en-US" sz="18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3177693-EB0D-1E39-15B4-13D89C3AEE07}"/>
              </a:ext>
            </a:extLst>
          </p:cNvPr>
          <p:cNvSpPr txBox="1"/>
          <p:nvPr/>
        </p:nvSpPr>
        <p:spPr>
          <a:xfrm>
            <a:off x="685799" y="141779"/>
            <a:ext cx="276248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i="1" dirty="0">
                <a:solidFill>
                  <a:schemeClr val="bg2">
                    <a:lumMod val="25000"/>
                  </a:schemeClr>
                </a:solidFill>
              </a:rPr>
              <a:t>Understanding Student Learning</a:t>
            </a:r>
          </a:p>
        </p:txBody>
      </p:sp>
    </p:spTree>
    <p:extLst>
      <p:ext uri="{BB962C8B-B14F-4D97-AF65-F5344CB8AC3E}">
        <p14:creationId xmlns:p14="http://schemas.microsoft.com/office/powerpoint/2010/main" val="227565591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02008D-B932-76D8-205E-4B147C4A0C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799" y="375114"/>
            <a:ext cx="10515600" cy="1325563"/>
          </a:xfrm>
        </p:spPr>
        <p:txBody>
          <a:bodyPr>
            <a:normAutofit/>
          </a:bodyPr>
          <a:lstStyle/>
          <a:p>
            <a:r>
              <a:rPr lang="en-US" sz="4000" dirty="0"/>
              <a:t>Maya’s background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D3E296E-C9CB-E243-00B4-2FA9197126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B9DE9F-8B04-4C5E-BF82-97AB5AC7190B}" type="slidenum">
              <a:rPr lang="en-US" smtClean="0"/>
              <a:t>2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B04DA4C-3A88-DD93-C773-3839FE24FA0E}"/>
              </a:ext>
            </a:extLst>
          </p:cNvPr>
          <p:cNvSpPr txBox="1"/>
          <p:nvPr/>
        </p:nvSpPr>
        <p:spPr>
          <a:xfrm>
            <a:off x="685799" y="141779"/>
            <a:ext cx="276248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i="1" dirty="0">
                <a:solidFill>
                  <a:schemeClr val="bg2">
                    <a:lumMod val="25000"/>
                  </a:schemeClr>
                </a:solidFill>
              </a:rPr>
              <a:t>Understanding Student Learning</a:t>
            </a:r>
          </a:p>
        </p:txBody>
      </p:sp>
      <p:pic>
        <p:nvPicPr>
          <p:cNvPr id="45" name="Picture 44" descr="Download Classroom study session Image - Classroom, Blackboard, Mathematics  | StockCake">
            <a:extLst>
              <a:ext uri="{FF2B5EF4-FFF2-40B4-BE49-F238E27FC236}">
                <a16:creationId xmlns:a16="http://schemas.microsoft.com/office/drawing/2014/main" id="{81FF5D70-143F-45A8-04B0-60E23D3A5D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3491" y="2298413"/>
            <a:ext cx="3736500" cy="2094083"/>
          </a:xfrm>
          <a:prstGeom prst="rect">
            <a:avLst/>
          </a:prstGeom>
        </p:spPr>
      </p:pic>
      <p:pic>
        <p:nvPicPr>
          <p:cNvPr id="46" name="Picture 45" descr="Successful Students Series, Post #2: Taking Notes on Reading Assignments,  Prior to Discussion in Class - Shumsky Center">
            <a:extLst>
              <a:ext uri="{FF2B5EF4-FFF2-40B4-BE49-F238E27FC236}">
                <a16:creationId xmlns:a16="http://schemas.microsoft.com/office/drawing/2014/main" id="{305B684F-7E85-C790-350C-AE2BE6E2A1B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04936" y="2298412"/>
            <a:ext cx="3209707" cy="2094083"/>
          </a:xfrm>
          <a:prstGeom prst="rect">
            <a:avLst/>
          </a:prstGeom>
        </p:spPr>
      </p:pic>
      <p:pic>
        <p:nvPicPr>
          <p:cNvPr id="47" name="Picture 46" descr="Multiple-Choice Tests: Revisiting the Pros and Cons">
            <a:extLst>
              <a:ext uri="{FF2B5EF4-FFF2-40B4-BE49-F238E27FC236}">
                <a16:creationId xmlns:a16="http://schemas.microsoft.com/office/drawing/2014/main" id="{38A69974-DDE5-907F-50F8-C26DD5660A4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46230" y="2298412"/>
            <a:ext cx="3941803" cy="20940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51479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19E487-BA1B-F868-EF8B-06DC9F3472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C1F1CA-34A3-C34C-1A61-103CB803B4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799" y="375114"/>
            <a:ext cx="10515600" cy="1325563"/>
          </a:xfrm>
        </p:spPr>
        <p:txBody>
          <a:bodyPr>
            <a:normAutofit/>
          </a:bodyPr>
          <a:lstStyle/>
          <a:p>
            <a:r>
              <a:rPr lang="en-US" sz="4000" dirty="0"/>
              <a:t>Maya’s background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BFEBEB3-4BF1-A91C-7B1F-9BA2F8C47F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B9DE9F-8B04-4C5E-BF82-97AB5AC7190B}" type="slidenum">
              <a:rPr lang="en-US" smtClean="0"/>
              <a:t>3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519CEA7-83C4-6A90-B8B9-4408883ADF63}"/>
              </a:ext>
            </a:extLst>
          </p:cNvPr>
          <p:cNvSpPr txBox="1"/>
          <p:nvPr/>
        </p:nvSpPr>
        <p:spPr>
          <a:xfrm>
            <a:off x="685799" y="141779"/>
            <a:ext cx="276248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i="1" dirty="0">
                <a:solidFill>
                  <a:schemeClr val="bg2">
                    <a:lumMod val="25000"/>
                  </a:schemeClr>
                </a:solidFill>
              </a:rPr>
              <a:t>Understanding Student Learning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252FBAD2-240D-80C4-7062-8F47ED5FB104}"/>
              </a:ext>
            </a:extLst>
          </p:cNvPr>
          <p:cNvSpPr/>
          <p:nvPr/>
        </p:nvSpPr>
        <p:spPr>
          <a:xfrm>
            <a:off x="838200" y="1938528"/>
            <a:ext cx="5983224" cy="4069080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75C7B4BC-C547-602A-6812-485A8E16D41B}"/>
              </a:ext>
            </a:extLst>
          </p:cNvPr>
          <p:cNvSpPr/>
          <p:nvPr/>
        </p:nvSpPr>
        <p:spPr>
          <a:xfrm>
            <a:off x="838200" y="2532888"/>
            <a:ext cx="5852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/>
              <a:t>Maya scored 88%.</a:t>
            </a:r>
            <a:endParaRPr lang="en-US" sz="3200" dirty="0"/>
          </a:p>
        </p:txBody>
      </p:sp>
      <p:sp>
        <p:nvSpPr>
          <p:cNvPr id="11" name="Text 4">
            <a:extLst>
              <a:ext uri="{FF2B5EF4-FFF2-40B4-BE49-F238E27FC236}">
                <a16:creationId xmlns:a16="http://schemas.microsoft.com/office/drawing/2014/main" id="{4759259B-E37F-3997-2939-7D6E03EE10EA}"/>
              </a:ext>
            </a:extLst>
          </p:cNvPr>
          <p:cNvSpPr/>
          <p:nvPr/>
        </p:nvSpPr>
        <p:spPr>
          <a:xfrm>
            <a:off x="911352" y="3264408"/>
            <a:ext cx="57150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666666"/>
                </a:solidFill>
              </a:rPr>
              <a:t>Two weeks later, she could not use the same concept in a new situation.</a:t>
            </a:r>
            <a:endParaRPr lang="en-US" sz="2400" dirty="0"/>
          </a:p>
        </p:txBody>
      </p:sp>
      <p:sp>
        <p:nvSpPr>
          <p:cNvPr id="13" name="Text 5">
            <a:extLst>
              <a:ext uri="{FF2B5EF4-FFF2-40B4-BE49-F238E27FC236}">
                <a16:creationId xmlns:a16="http://schemas.microsoft.com/office/drawing/2014/main" id="{3981C895-5AAB-4091-F41E-F360EC1F2D9D}"/>
              </a:ext>
            </a:extLst>
          </p:cNvPr>
          <p:cNvSpPr/>
          <p:nvPr/>
        </p:nvSpPr>
        <p:spPr>
          <a:xfrm>
            <a:off x="883920" y="4672584"/>
            <a:ext cx="5760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9E1B32"/>
                </a:solidFill>
              </a:rPr>
              <a:t>Did Maya learn?</a:t>
            </a:r>
            <a:endParaRPr lang="en-US" sz="3000" dirty="0"/>
          </a:p>
        </p:txBody>
      </p:sp>
      <p:sp>
        <p:nvSpPr>
          <p:cNvPr id="15" name="Shape 6">
            <a:extLst>
              <a:ext uri="{FF2B5EF4-FFF2-40B4-BE49-F238E27FC236}">
                <a16:creationId xmlns:a16="http://schemas.microsoft.com/office/drawing/2014/main" id="{61F36C1C-6CB8-EA87-8784-E2AB41E1FBDE}"/>
              </a:ext>
            </a:extLst>
          </p:cNvPr>
          <p:cNvSpPr/>
          <p:nvPr/>
        </p:nvSpPr>
        <p:spPr>
          <a:xfrm>
            <a:off x="7690104" y="1938528"/>
            <a:ext cx="3813048" cy="4069080"/>
          </a:xfrm>
          <a:prstGeom prst="roundRect">
            <a:avLst/>
          </a:prstGeom>
          <a:solidFill>
            <a:schemeClr val="bg2">
              <a:lumMod val="90000"/>
            </a:schemeClr>
          </a:solidFill>
          <a:ln w="12700">
            <a:solidFill>
              <a:srgbClr val="E5C6C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7">
            <a:extLst>
              <a:ext uri="{FF2B5EF4-FFF2-40B4-BE49-F238E27FC236}">
                <a16:creationId xmlns:a16="http://schemas.microsoft.com/office/drawing/2014/main" id="{822F63F0-5AAF-E6E5-E149-8643D1E3E688}"/>
              </a:ext>
            </a:extLst>
          </p:cNvPr>
          <p:cNvSpPr/>
          <p:nvPr/>
        </p:nvSpPr>
        <p:spPr>
          <a:xfrm>
            <a:off x="8144627" y="2310490"/>
            <a:ext cx="2883037" cy="2872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9E1B32"/>
                </a:solidFill>
              </a:rPr>
              <a:t>QUICK VOTE</a:t>
            </a:r>
            <a:endParaRPr lang="en-US" sz="1300" dirty="0"/>
          </a:p>
        </p:txBody>
      </p:sp>
      <p:sp>
        <p:nvSpPr>
          <p:cNvPr id="19" name="Shape 8">
            <a:extLst>
              <a:ext uri="{FF2B5EF4-FFF2-40B4-BE49-F238E27FC236}">
                <a16:creationId xmlns:a16="http://schemas.microsoft.com/office/drawing/2014/main" id="{B5F6988C-2E32-4BF6-766A-4790BB19EBFE}"/>
              </a:ext>
            </a:extLst>
          </p:cNvPr>
          <p:cNvSpPr/>
          <p:nvPr/>
        </p:nvSpPr>
        <p:spPr>
          <a:xfrm>
            <a:off x="8068221" y="2784185"/>
            <a:ext cx="353404" cy="363824"/>
          </a:xfrm>
          <a:prstGeom prst="ellipse">
            <a:avLst/>
          </a:prstGeom>
          <a:solidFill>
            <a:srgbClr val="9E1B32"/>
          </a:solidFill>
          <a:ln w="12700">
            <a:solidFill>
              <a:srgbClr val="9E1B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9">
            <a:extLst>
              <a:ext uri="{FF2B5EF4-FFF2-40B4-BE49-F238E27FC236}">
                <a16:creationId xmlns:a16="http://schemas.microsoft.com/office/drawing/2014/main" id="{0F0C0072-1793-4923-F17F-3ABDE475D5FB}"/>
              </a:ext>
            </a:extLst>
          </p:cNvPr>
          <p:cNvSpPr/>
          <p:nvPr/>
        </p:nvSpPr>
        <p:spPr>
          <a:xfrm>
            <a:off x="8068221" y="2867628"/>
            <a:ext cx="353404" cy="1723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1</a:t>
            </a:r>
            <a:endParaRPr lang="en-US" sz="1000" dirty="0"/>
          </a:p>
        </p:txBody>
      </p:sp>
      <p:sp>
        <p:nvSpPr>
          <p:cNvPr id="23" name="Text 10">
            <a:extLst>
              <a:ext uri="{FF2B5EF4-FFF2-40B4-BE49-F238E27FC236}">
                <a16:creationId xmlns:a16="http://schemas.microsoft.com/office/drawing/2014/main" id="{FE62499C-63B1-33C0-15A0-2C25892A4658}"/>
              </a:ext>
            </a:extLst>
          </p:cNvPr>
          <p:cNvSpPr/>
          <p:nvPr/>
        </p:nvSpPr>
        <p:spPr>
          <a:xfrm>
            <a:off x="8496003" y="2739897"/>
            <a:ext cx="2650533" cy="4595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232323"/>
                </a:solidFill>
              </a:rPr>
              <a:t>Yes - the score proves it.</a:t>
            </a:r>
            <a:endParaRPr lang="en-US" dirty="0"/>
          </a:p>
        </p:txBody>
      </p:sp>
      <p:sp>
        <p:nvSpPr>
          <p:cNvPr id="25" name="Shape 11">
            <a:extLst>
              <a:ext uri="{FF2B5EF4-FFF2-40B4-BE49-F238E27FC236}">
                <a16:creationId xmlns:a16="http://schemas.microsoft.com/office/drawing/2014/main" id="{1EA5493D-0797-CBCC-C384-9230F7AB1C8B}"/>
              </a:ext>
            </a:extLst>
          </p:cNvPr>
          <p:cNvSpPr/>
          <p:nvPr/>
        </p:nvSpPr>
        <p:spPr>
          <a:xfrm>
            <a:off x="8068221" y="3442553"/>
            <a:ext cx="353404" cy="363824"/>
          </a:xfrm>
          <a:prstGeom prst="ellipse">
            <a:avLst/>
          </a:prstGeom>
          <a:solidFill>
            <a:srgbClr val="9E1B32"/>
          </a:solidFill>
          <a:ln w="12700">
            <a:solidFill>
              <a:srgbClr val="9E1B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12">
            <a:extLst>
              <a:ext uri="{FF2B5EF4-FFF2-40B4-BE49-F238E27FC236}">
                <a16:creationId xmlns:a16="http://schemas.microsoft.com/office/drawing/2014/main" id="{51D61FDD-FB67-E35E-58BC-EB69274D0008}"/>
              </a:ext>
            </a:extLst>
          </p:cNvPr>
          <p:cNvSpPr/>
          <p:nvPr/>
        </p:nvSpPr>
        <p:spPr>
          <a:xfrm>
            <a:off x="8068221" y="3533552"/>
            <a:ext cx="353404" cy="1723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2</a:t>
            </a:r>
            <a:endParaRPr lang="en-US" sz="1000" dirty="0"/>
          </a:p>
        </p:txBody>
      </p:sp>
      <p:sp>
        <p:nvSpPr>
          <p:cNvPr id="29" name="Text 13">
            <a:extLst>
              <a:ext uri="{FF2B5EF4-FFF2-40B4-BE49-F238E27FC236}">
                <a16:creationId xmlns:a16="http://schemas.microsoft.com/office/drawing/2014/main" id="{3851266F-5277-024C-FFF4-BE303672C9B1}"/>
              </a:ext>
            </a:extLst>
          </p:cNvPr>
          <p:cNvSpPr/>
          <p:nvPr/>
        </p:nvSpPr>
        <p:spPr>
          <a:xfrm>
            <a:off x="8496002" y="3407409"/>
            <a:ext cx="2650533" cy="4595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232323"/>
                </a:solidFill>
              </a:rPr>
              <a:t>Partly - she remembered but could not transfer.</a:t>
            </a:r>
            <a:endParaRPr lang="en-US" dirty="0"/>
          </a:p>
        </p:txBody>
      </p:sp>
      <p:sp>
        <p:nvSpPr>
          <p:cNvPr id="31" name="Shape 14">
            <a:extLst>
              <a:ext uri="{FF2B5EF4-FFF2-40B4-BE49-F238E27FC236}">
                <a16:creationId xmlns:a16="http://schemas.microsoft.com/office/drawing/2014/main" id="{97CD5EFA-E37F-6AA7-A0BA-7C8A4739CBE3}"/>
              </a:ext>
            </a:extLst>
          </p:cNvPr>
          <p:cNvSpPr/>
          <p:nvPr/>
        </p:nvSpPr>
        <p:spPr>
          <a:xfrm>
            <a:off x="8068221" y="4100921"/>
            <a:ext cx="353404" cy="363824"/>
          </a:xfrm>
          <a:prstGeom prst="ellipse">
            <a:avLst/>
          </a:prstGeom>
          <a:solidFill>
            <a:srgbClr val="9E1B32"/>
          </a:solidFill>
          <a:ln w="12700">
            <a:solidFill>
              <a:srgbClr val="9E1B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15">
            <a:extLst>
              <a:ext uri="{FF2B5EF4-FFF2-40B4-BE49-F238E27FC236}">
                <a16:creationId xmlns:a16="http://schemas.microsoft.com/office/drawing/2014/main" id="{3E38B2D3-C4D7-615D-42A9-FA670C359A65}"/>
              </a:ext>
            </a:extLst>
          </p:cNvPr>
          <p:cNvSpPr/>
          <p:nvPr/>
        </p:nvSpPr>
        <p:spPr>
          <a:xfrm>
            <a:off x="8068221" y="4196664"/>
            <a:ext cx="353404" cy="1723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3</a:t>
            </a:r>
            <a:endParaRPr lang="en-US" sz="1000" dirty="0"/>
          </a:p>
        </p:txBody>
      </p:sp>
      <p:sp>
        <p:nvSpPr>
          <p:cNvPr id="35" name="Text 16">
            <a:extLst>
              <a:ext uri="{FF2B5EF4-FFF2-40B4-BE49-F238E27FC236}">
                <a16:creationId xmlns:a16="http://schemas.microsoft.com/office/drawing/2014/main" id="{72ACAF36-4EC6-AA09-9001-C53B7B8DA65C}"/>
              </a:ext>
            </a:extLst>
          </p:cNvPr>
          <p:cNvSpPr/>
          <p:nvPr/>
        </p:nvSpPr>
        <p:spPr>
          <a:xfrm>
            <a:off x="8496001" y="4053049"/>
            <a:ext cx="2650533" cy="4595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232323"/>
                </a:solidFill>
              </a:rPr>
              <a:t>No - application is required.</a:t>
            </a:r>
            <a:endParaRPr lang="en-US" dirty="0"/>
          </a:p>
        </p:txBody>
      </p:sp>
      <p:sp>
        <p:nvSpPr>
          <p:cNvPr id="37" name="Shape 17">
            <a:extLst>
              <a:ext uri="{FF2B5EF4-FFF2-40B4-BE49-F238E27FC236}">
                <a16:creationId xmlns:a16="http://schemas.microsoft.com/office/drawing/2014/main" id="{5BDF098B-E411-4AE2-76C9-BC2EC2389321}"/>
              </a:ext>
            </a:extLst>
          </p:cNvPr>
          <p:cNvSpPr/>
          <p:nvPr/>
        </p:nvSpPr>
        <p:spPr>
          <a:xfrm>
            <a:off x="8068221" y="4759289"/>
            <a:ext cx="353404" cy="363824"/>
          </a:xfrm>
          <a:prstGeom prst="ellipse">
            <a:avLst/>
          </a:prstGeom>
          <a:solidFill>
            <a:srgbClr val="9E1B32"/>
          </a:solidFill>
          <a:ln w="12700">
            <a:solidFill>
              <a:srgbClr val="9E1B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18">
            <a:extLst>
              <a:ext uri="{FF2B5EF4-FFF2-40B4-BE49-F238E27FC236}">
                <a16:creationId xmlns:a16="http://schemas.microsoft.com/office/drawing/2014/main" id="{6A2E83AC-7964-00D9-8540-1E88141C622E}"/>
              </a:ext>
            </a:extLst>
          </p:cNvPr>
          <p:cNvSpPr/>
          <p:nvPr/>
        </p:nvSpPr>
        <p:spPr>
          <a:xfrm>
            <a:off x="8068221" y="4851591"/>
            <a:ext cx="353404" cy="1723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4</a:t>
            </a:r>
            <a:endParaRPr lang="en-US" sz="1000" dirty="0"/>
          </a:p>
        </p:txBody>
      </p:sp>
      <p:sp>
        <p:nvSpPr>
          <p:cNvPr id="41" name="Text 19">
            <a:extLst>
              <a:ext uri="{FF2B5EF4-FFF2-40B4-BE49-F238E27FC236}">
                <a16:creationId xmlns:a16="http://schemas.microsoft.com/office/drawing/2014/main" id="{03AC427C-523D-2D66-BA16-4E6AB766A3BB}"/>
              </a:ext>
            </a:extLst>
          </p:cNvPr>
          <p:cNvSpPr/>
          <p:nvPr/>
        </p:nvSpPr>
        <p:spPr>
          <a:xfrm>
            <a:off x="8496000" y="4707976"/>
            <a:ext cx="2650533" cy="4595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232323"/>
                </a:solidFill>
              </a:rPr>
              <a:t>Not enough information yet.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738673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8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1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4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0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3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6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9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2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5" grpId="0" animBg="1"/>
      <p:bldP spid="17" grpId="0" animBg="1"/>
      <p:bldP spid="19" grpId="0" animBg="1"/>
      <p:bldP spid="21" grpId="0" animBg="1"/>
      <p:bldP spid="23" grpId="0" animBg="1"/>
      <p:bldP spid="25" grpId="0" animBg="1"/>
      <p:bldP spid="27" grpId="0" animBg="1"/>
      <p:bldP spid="29" grpId="0" animBg="1"/>
      <p:bldP spid="31" grpId="0" animBg="1"/>
      <p:bldP spid="33" grpId="0" animBg="1"/>
      <p:bldP spid="35" grpId="0" animBg="1"/>
      <p:bldP spid="37" grpId="0" animBg="1"/>
      <p:bldP spid="39" grpId="0" animBg="1"/>
      <p:bldP spid="4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0F004C-FB0C-E338-1BC9-CDC1998214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799" y="361346"/>
            <a:ext cx="10515600" cy="1325563"/>
          </a:xfrm>
        </p:spPr>
        <p:txBody>
          <a:bodyPr>
            <a:normAutofit/>
          </a:bodyPr>
          <a:lstStyle/>
          <a:p>
            <a:r>
              <a:rPr lang="en-US" sz="4000" dirty="0"/>
              <a:t>Table of Content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D80A757-56D4-9BC9-FCAE-16CF6E5F84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B9DE9F-8B04-4C5E-BF82-97AB5AC7190B}" type="slidenum">
              <a:rPr lang="en-US" smtClean="0"/>
              <a:t>4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04E2A7E-D608-E63D-D7B0-62545DDD059A}"/>
              </a:ext>
            </a:extLst>
          </p:cNvPr>
          <p:cNvSpPr txBox="1"/>
          <p:nvPr/>
        </p:nvSpPr>
        <p:spPr>
          <a:xfrm>
            <a:off x="685799" y="141779"/>
            <a:ext cx="276248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i="1" dirty="0">
                <a:solidFill>
                  <a:schemeClr val="bg2">
                    <a:lumMod val="25000"/>
                  </a:schemeClr>
                </a:solidFill>
              </a:rPr>
              <a:t>Understanding Student Learning</a:t>
            </a:r>
          </a:p>
        </p:txBody>
      </p:sp>
      <p:sp>
        <p:nvSpPr>
          <p:cNvPr id="9" name="Shape 2">
            <a:extLst>
              <a:ext uri="{FF2B5EF4-FFF2-40B4-BE49-F238E27FC236}">
                <a16:creationId xmlns:a16="http://schemas.microsoft.com/office/drawing/2014/main" id="{64385B3E-F810-3898-D22F-5D8714355455}"/>
              </a:ext>
            </a:extLst>
          </p:cNvPr>
          <p:cNvSpPr/>
          <p:nvPr/>
        </p:nvSpPr>
        <p:spPr>
          <a:xfrm>
            <a:off x="822960" y="1664208"/>
            <a:ext cx="3337560" cy="22128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6">
            <a:extLst>
              <a:ext uri="{FF2B5EF4-FFF2-40B4-BE49-F238E27FC236}">
                <a16:creationId xmlns:a16="http://schemas.microsoft.com/office/drawing/2014/main" id="{5E08AC00-3E6A-7F8F-37F1-70C218A68295}"/>
              </a:ext>
            </a:extLst>
          </p:cNvPr>
          <p:cNvSpPr/>
          <p:nvPr/>
        </p:nvSpPr>
        <p:spPr>
          <a:xfrm>
            <a:off x="4572000" y="1664208"/>
            <a:ext cx="3337560" cy="22128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0">
            <a:extLst>
              <a:ext uri="{FF2B5EF4-FFF2-40B4-BE49-F238E27FC236}">
                <a16:creationId xmlns:a16="http://schemas.microsoft.com/office/drawing/2014/main" id="{A30DCAFC-09A7-750C-D69B-C309C7500E1E}"/>
              </a:ext>
            </a:extLst>
          </p:cNvPr>
          <p:cNvSpPr/>
          <p:nvPr/>
        </p:nvSpPr>
        <p:spPr>
          <a:xfrm>
            <a:off x="8321040" y="1664208"/>
            <a:ext cx="3337560" cy="22128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4">
            <a:extLst>
              <a:ext uri="{FF2B5EF4-FFF2-40B4-BE49-F238E27FC236}">
                <a16:creationId xmlns:a16="http://schemas.microsoft.com/office/drawing/2014/main" id="{18F68589-A28F-C284-80E4-C251CF37848A}"/>
              </a:ext>
            </a:extLst>
          </p:cNvPr>
          <p:cNvSpPr/>
          <p:nvPr/>
        </p:nvSpPr>
        <p:spPr>
          <a:xfrm>
            <a:off x="1005840" y="4370832"/>
            <a:ext cx="10058400" cy="1005840"/>
          </a:xfrm>
          <a:prstGeom prst="roundRect">
            <a:avLst/>
          </a:prstGeom>
          <a:solidFill>
            <a:srgbClr val="F5E8EC"/>
          </a:solidFill>
          <a:ln w="12700">
            <a:solidFill>
              <a:srgbClr val="E8CBD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6">
            <a:extLst>
              <a:ext uri="{FF2B5EF4-FFF2-40B4-BE49-F238E27FC236}">
                <a16:creationId xmlns:a16="http://schemas.microsoft.com/office/drawing/2014/main" id="{06A28570-1BB1-CEE8-B816-5F2EF016C8A2}"/>
              </a:ext>
            </a:extLst>
          </p:cNvPr>
          <p:cNvSpPr/>
          <p:nvPr/>
        </p:nvSpPr>
        <p:spPr>
          <a:xfrm>
            <a:off x="3118104" y="4586351"/>
            <a:ext cx="775411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32323"/>
                </a:solidFill>
              </a:rPr>
              <a:t>By the end, we will be able to diagnose one common barrier to student learning and select one teaching move that could address it.</a:t>
            </a:r>
            <a:endParaRPr lang="en-US" sz="1700" dirty="0"/>
          </a:p>
        </p:txBody>
      </p:sp>
      <p:sp>
        <p:nvSpPr>
          <p:cNvPr id="19" name="Text 3">
            <a:extLst>
              <a:ext uri="{FF2B5EF4-FFF2-40B4-BE49-F238E27FC236}">
                <a16:creationId xmlns:a16="http://schemas.microsoft.com/office/drawing/2014/main" id="{2E3FE5BE-A680-A6DD-972B-FAA63790140A}"/>
              </a:ext>
            </a:extLst>
          </p:cNvPr>
          <p:cNvSpPr/>
          <p:nvPr/>
        </p:nvSpPr>
        <p:spPr>
          <a:xfrm>
            <a:off x="1042416" y="1874520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9E1B32"/>
                </a:solidFill>
              </a:rPr>
              <a:t>01</a:t>
            </a:r>
            <a:endParaRPr lang="en-US" sz="2000" dirty="0"/>
          </a:p>
        </p:txBody>
      </p:sp>
      <p:sp>
        <p:nvSpPr>
          <p:cNvPr id="21" name="Text 4">
            <a:extLst>
              <a:ext uri="{FF2B5EF4-FFF2-40B4-BE49-F238E27FC236}">
                <a16:creationId xmlns:a16="http://schemas.microsoft.com/office/drawing/2014/main" id="{C0C3B2CF-4A79-DC0C-0EF5-FDE91BDB863D}"/>
              </a:ext>
            </a:extLst>
          </p:cNvPr>
          <p:cNvSpPr/>
          <p:nvPr/>
        </p:nvSpPr>
        <p:spPr>
          <a:xfrm>
            <a:off x="1042416" y="2350008"/>
            <a:ext cx="2743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32323"/>
                </a:solidFill>
              </a:rPr>
              <a:t>What counts as learning?</a:t>
            </a:r>
            <a:endParaRPr lang="en-US" sz="2400" dirty="0"/>
          </a:p>
        </p:txBody>
      </p:sp>
      <p:sp>
        <p:nvSpPr>
          <p:cNvPr id="23" name="Text 5">
            <a:extLst>
              <a:ext uri="{FF2B5EF4-FFF2-40B4-BE49-F238E27FC236}">
                <a16:creationId xmlns:a16="http://schemas.microsoft.com/office/drawing/2014/main" id="{7E7F187F-C101-B032-8E3E-5B242398C26F}"/>
              </a:ext>
            </a:extLst>
          </p:cNvPr>
          <p:cNvSpPr/>
          <p:nvPr/>
        </p:nvSpPr>
        <p:spPr>
          <a:xfrm>
            <a:off x="1042416" y="3182112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666666"/>
                </a:solidFill>
              </a:rPr>
              <a:t>Four lenses</a:t>
            </a:r>
            <a:endParaRPr lang="en-US" sz="1600" dirty="0"/>
          </a:p>
        </p:txBody>
      </p:sp>
      <p:sp>
        <p:nvSpPr>
          <p:cNvPr id="25" name="Text 7">
            <a:extLst>
              <a:ext uri="{FF2B5EF4-FFF2-40B4-BE49-F238E27FC236}">
                <a16:creationId xmlns:a16="http://schemas.microsoft.com/office/drawing/2014/main" id="{2D70BBB8-D825-8D4D-03F9-A2564316897A}"/>
              </a:ext>
            </a:extLst>
          </p:cNvPr>
          <p:cNvSpPr/>
          <p:nvPr/>
        </p:nvSpPr>
        <p:spPr>
          <a:xfrm>
            <a:off x="4791456" y="1874520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496A81"/>
                </a:solidFill>
              </a:rPr>
              <a:t>02</a:t>
            </a:r>
            <a:endParaRPr lang="en-US" sz="2000" dirty="0"/>
          </a:p>
        </p:txBody>
      </p:sp>
      <p:sp>
        <p:nvSpPr>
          <p:cNvPr id="27" name="Text 8">
            <a:extLst>
              <a:ext uri="{FF2B5EF4-FFF2-40B4-BE49-F238E27FC236}">
                <a16:creationId xmlns:a16="http://schemas.microsoft.com/office/drawing/2014/main" id="{4EE18D81-DE07-1DF7-FC20-520DD3F7A668}"/>
              </a:ext>
            </a:extLst>
          </p:cNvPr>
          <p:cNvSpPr/>
          <p:nvPr/>
        </p:nvSpPr>
        <p:spPr>
          <a:xfrm>
            <a:off x="4791456" y="2350008"/>
            <a:ext cx="2743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32323"/>
                </a:solidFill>
              </a:rPr>
              <a:t>Where can learning break down?</a:t>
            </a:r>
            <a:endParaRPr lang="en-US" sz="2400" dirty="0"/>
          </a:p>
        </p:txBody>
      </p:sp>
      <p:sp>
        <p:nvSpPr>
          <p:cNvPr id="29" name="Text 9">
            <a:extLst>
              <a:ext uri="{FF2B5EF4-FFF2-40B4-BE49-F238E27FC236}">
                <a16:creationId xmlns:a16="http://schemas.microsoft.com/office/drawing/2014/main" id="{62ACF5B9-6015-8343-0F94-91D8D5F8AB4D}"/>
              </a:ext>
            </a:extLst>
          </p:cNvPr>
          <p:cNvSpPr/>
          <p:nvPr/>
        </p:nvSpPr>
        <p:spPr>
          <a:xfrm>
            <a:off x="4791456" y="3182112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666666"/>
                </a:solidFill>
              </a:rPr>
              <a:t>Three high-impact barriers</a:t>
            </a:r>
            <a:endParaRPr lang="en-US" sz="1600" dirty="0"/>
          </a:p>
        </p:txBody>
      </p:sp>
      <p:sp>
        <p:nvSpPr>
          <p:cNvPr id="31" name="Text 11">
            <a:extLst>
              <a:ext uri="{FF2B5EF4-FFF2-40B4-BE49-F238E27FC236}">
                <a16:creationId xmlns:a16="http://schemas.microsoft.com/office/drawing/2014/main" id="{7C5D4E2F-4ADD-BD1E-8FC4-FE07E6EC58A9}"/>
              </a:ext>
            </a:extLst>
          </p:cNvPr>
          <p:cNvSpPr/>
          <p:nvPr/>
        </p:nvSpPr>
        <p:spPr>
          <a:xfrm>
            <a:off x="8540496" y="1874520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F6B4F"/>
                </a:solidFill>
              </a:rPr>
              <a:t>03</a:t>
            </a:r>
            <a:endParaRPr lang="en-US" sz="2000" dirty="0"/>
          </a:p>
        </p:txBody>
      </p:sp>
      <p:sp>
        <p:nvSpPr>
          <p:cNvPr id="33" name="Text 12">
            <a:extLst>
              <a:ext uri="{FF2B5EF4-FFF2-40B4-BE49-F238E27FC236}">
                <a16:creationId xmlns:a16="http://schemas.microsoft.com/office/drawing/2014/main" id="{4D8CD5E9-F58C-33B7-C158-0FF43225FD28}"/>
              </a:ext>
            </a:extLst>
          </p:cNvPr>
          <p:cNvSpPr/>
          <p:nvPr/>
        </p:nvSpPr>
        <p:spPr>
          <a:xfrm>
            <a:off x="8540496" y="2350008"/>
            <a:ext cx="2743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32323"/>
                </a:solidFill>
              </a:rPr>
              <a:t>What can a teacher do?</a:t>
            </a:r>
            <a:endParaRPr lang="en-US" sz="2400" dirty="0"/>
          </a:p>
        </p:txBody>
      </p:sp>
      <p:sp>
        <p:nvSpPr>
          <p:cNvPr id="35" name="Text 13">
            <a:extLst>
              <a:ext uri="{FF2B5EF4-FFF2-40B4-BE49-F238E27FC236}">
                <a16:creationId xmlns:a16="http://schemas.microsoft.com/office/drawing/2014/main" id="{C01DC789-D3D4-4319-833E-C2541E105E0E}"/>
              </a:ext>
            </a:extLst>
          </p:cNvPr>
          <p:cNvSpPr/>
          <p:nvPr/>
        </p:nvSpPr>
        <p:spPr>
          <a:xfrm>
            <a:off x="8540496" y="3182112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666666"/>
                </a:solidFill>
              </a:rPr>
              <a:t>Three aligned teaching moves</a:t>
            </a:r>
            <a:endParaRPr lang="en-US" sz="1600" dirty="0"/>
          </a:p>
        </p:txBody>
      </p:sp>
      <p:sp>
        <p:nvSpPr>
          <p:cNvPr id="37" name="Text 15">
            <a:extLst>
              <a:ext uri="{FF2B5EF4-FFF2-40B4-BE49-F238E27FC236}">
                <a16:creationId xmlns:a16="http://schemas.microsoft.com/office/drawing/2014/main" id="{C4F47C7D-F696-0CA3-D13B-266A1094C30B}"/>
              </a:ext>
            </a:extLst>
          </p:cNvPr>
          <p:cNvSpPr/>
          <p:nvPr/>
        </p:nvSpPr>
        <p:spPr>
          <a:xfrm>
            <a:off x="1289304" y="4714367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9E1B32"/>
                </a:solidFill>
              </a:rPr>
              <a:t>Learning objective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104928232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F780FB-FC88-46A8-F462-CBAF8F7D66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799" y="384524"/>
            <a:ext cx="10515600" cy="1325563"/>
          </a:xfrm>
        </p:spPr>
        <p:txBody>
          <a:bodyPr>
            <a:normAutofit/>
          </a:bodyPr>
          <a:lstStyle/>
          <a:p>
            <a:r>
              <a:rPr lang="en-US" sz="4000" dirty="0">
                <a:solidFill>
                  <a:srgbClr val="23232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Four lenses on learning</a:t>
            </a:r>
            <a:endParaRPr lang="en-US" sz="40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8FE0FED-9248-4C9D-2A8A-0537A07EEB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B9DE9F-8B04-4C5E-BF82-97AB5AC7190B}" type="slidenum">
              <a:rPr lang="en-US" smtClean="0"/>
              <a:t>5</a:t>
            </a:fld>
            <a:endParaRPr lang="en-US"/>
          </a:p>
        </p:txBody>
      </p:sp>
      <p:sp>
        <p:nvSpPr>
          <p:cNvPr id="6" name="Shape 2">
            <a:extLst>
              <a:ext uri="{FF2B5EF4-FFF2-40B4-BE49-F238E27FC236}">
                <a16:creationId xmlns:a16="http://schemas.microsoft.com/office/drawing/2014/main" id="{651E3CB5-AC6C-E091-78B2-80088AC2D453}"/>
              </a:ext>
            </a:extLst>
          </p:cNvPr>
          <p:cNvSpPr/>
          <p:nvPr/>
        </p:nvSpPr>
        <p:spPr>
          <a:xfrm>
            <a:off x="749808" y="1572768"/>
            <a:ext cx="5157216" cy="1691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3">
            <a:extLst>
              <a:ext uri="{FF2B5EF4-FFF2-40B4-BE49-F238E27FC236}">
                <a16:creationId xmlns:a16="http://schemas.microsoft.com/office/drawing/2014/main" id="{04FFDC4D-7044-6F2E-F00F-E40A7D0F7994}"/>
              </a:ext>
            </a:extLst>
          </p:cNvPr>
          <p:cNvSpPr/>
          <p:nvPr/>
        </p:nvSpPr>
        <p:spPr>
          <a:xfrm>
            <a:off x="749808" y="1572768"/>
            <a:ext cx="109728" cy="1691640"/>
          </a:xfrm>
          <a:prstGeom prst="rect">
            <a:avLst/>
          </a:prstGeom>
          <a:solidFill>
            <a:srgbClr val="9E1B32"/>
          </a:solidFill>
          <a:ln w="12700">
            <a:solidFill>
              <a:srgbClr val="9E1B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4">
            <a:extLst>
              <a:ext uri="{FF2B5EF4-FFF2-40B4-BE49-F238E27FC236}">
                <a16:creationId xmlns:a16="http://schemas.microsoft.com/office/drawing/2014/main" id="{A7BA0106-19B2-4A8A-6BD8-35093B4E7FBC}"/>
              </a:ext>
            </a:extLst>
          </p:cNvPr>
          <p:cNvSpPr/>
          <p:nvPr/>
        </p:nvSpPr>
        <p:spPr>
          <a:xfrm>
            <a:off x="1042416" y="1773936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9E1B32"/>
                </a:solidFill>
              </a:rPr>
              <a:t>Behaviorism</a:t>
            </a:r>
            <a:endParaRPr lang="en-US" sz="1800" dirty="0"/>
          </a:p>
        </p:txBody>
      </p:sp>
      <p:sp>
        <p:nvSpPr>
          <p:cNvPr id="12" name="Text 5">
            <a:extLst>
              <a:ext uri="{FF2B5EF4-FFF2-40B4-BE49-F238E27FC236}">
                <a16:creationId xmlns:a16="http://schemas.microsoft.com/office/drawing/2014/main" id="{C9143431-3714-208E-BBD0-7B7A5183A596}"/>
              </a:ext>
            </a:extLst>
          </p:cNvPr>
          <p:cNvSpPr/>
          <p:nvPr/>
        </p:nvSpPr>
        <p:spPr>
          <a:xfrm>
            <a:off x="1042416" y="2212848"/>
            <a:ext cx="4480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232323"/>
                </a:solidFill>
              </a:rPr>
              <a:t>Learning = observable change</a:t>
            </a:r>
            <a:endParaRPr lang="en-US" sz="1550" dirty="0"/>
          </a:p>
        </p:txBody>
      </p:sp>
      <p:sp>
        <p:nvSpPr>
          <p:cNvPr id="14" name="Text 6">
            <a:extLst>
              <a:ext uri="{FF2B5EF4-FFF2-40B4-BE49-F238E27FC236}">
                <a16:creationId xmlns:a16="http://schemas.microsoft.com/office/drawing/2014/main" id="{FE196483-FA03-E030-BB99-969D431016B4}"/>
              </a:ext>
            </a:extLst>
          </p:cNvPr>
          <p:cNvSpPr/>
          <p:nvPr/>
        </p:nvSpPr>
        <p:spPr>
          <a:xfrm>
            <a:off x="1042416" y="2651760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66666"/>
                </a:solidFill>
              </a:rPr>
              <a:t>Teacher move: Practice + reinforcement</a:t>
            </a:r>
            <a:endParaRPr lang="en-US" sz="1250" dirty="0"/>
          </a:p>
        </p:txBody>
      </p:sp>
      <p:sp>
        <p:nvSpPr>
          <p:cNvPr id="16" name="Shape 7">
            <a:extLst>
              <a:ext uri="{FF2B5EF4-FFF2-40B4-BE49-F238E27FC236}">
                <a16:creationId xmlns:a16="http://schemas.microsoft.com/office/drawing/2014/main" id="{8EFDFA9C-EB78-6677-E8EB-3CE4B2A86CA6}"/>
              </a:ext>
            </a:extLst>
          </p:cNvPr>
          <p:cNvSpPr/>
          <p:nvPr/>
        </p:nvSpPr>
        <p:spPr>
          <a:xfrm>
            <a:off x="6263640" y="1572768"/>
            <a:ext cx="5157216" cy="1691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8">
            <a:extLst>
              <a:ext uri="{FF2B5EF4-FFF2-40B4-BE49-F238E27FC236}">
                <a16:creationId xmlns:a16="http://schemas.microsoft.com/office/drawing/2014/main" id="{76141D54-7021-6AAD-36A0-6B8F48397482}"/>
              </a:ext>
            </a:extLst>
          </p:cNvPr>
          <p:cNvSpPr/>
          <p:nvPr/>
        </p:nvSpPr>
        <p:spPr>
          <a:xfrm>
            <a:off x="6263640" y="1572768"/>
            <a:ext cx="109728" cy="1691640"/>
          </a:xfrm>
          <a:prstGeom prst="rect">
            <a:avLst/>
          </a:prstGeom>
          <a:solidFill>
            <a:srgbClr val="496A81"/>
          </a:solidFill>
          <a:ln w="12700">
            <a:solidFill>
              <a:srgbClr val="496A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9">
            <a:extLst>
              <a:ext uri="{FF2B5EF4-FFF2-40B4-BE49-F238E27FC236}">
                <a16:creationId xmlns:a16="http://schemas.microsoft.com/office/drawing/2014/main" id="{4544610C-0595-F66C-8CE5-5FD523554E16}"/>
              </a:ext>
            </a:extLst>
          </p:cNvPr>
          <p:cNvSpPr/>
          <p:nvPr/>
        </p:nvSpPr>
        <p:spPr>
          <a:xfrm>
            <a:off x="6556248" y="1773936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496A81"/>
                </a:solidFill>
              </a:rPr>
              <a:t>Cognitivism</a:t>
            </a:r>
            <a:endParaRPr lang="en-US" sz="1800" dirty="0"/>
          </a:p>
        </p:txBody>
      </p:sp>
      <p:sp>
        <p:nvSpPr>
          <p:cNvPr id="22" name="Text 10">
            <a:extLst>
              <a:ext uri="{FF2B5EF4-FFF2-40B4-BE49-F238E27FC236}">
                <a16:creationId xmlns:a16="http://schemas.microsoft.com/office/drawing/2014/main" id="{F49C7F6B-339E-6839-B354-8C78A8D5FA08}"/>
              </a:ext>
            </a:extLst>
          </p:cNvPr>
          <p:cNvSpPr/>
          <p:nvPr/>
        </p:nvSpPr>
        <p:spPr>
          <a:xfrm>
            <a:off x="6556248" y="2212848"/>
            <a:ext cx="4480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232323"/>
                </a:solidFill>
              </a:rPr>
              <a:t>Learning = processing + memory</a:t>
            </a:r>
            <a:endParaRPr lang="en-US" sz="1550" dirty="0"/>
          </a:p>
        </p:txBody>
      </p:sp>
      <p:sp>
        <p:nvSpPr>
          <p:cNvPr id="24" name="Text 11">
            <a:extLst>
              <a:ext uri="{FF2B5EF4-FFF2-40B4-BE49-F238E27FC236}">
                <a16:creationId xmlns:a16="http://schemas.microsoft.com/office/drawing/2014/main" id="{BEB72369-C3A8-A304-7563-FA2FE74E069B}"/>
              </a:ext>
            </a:extLst>
          </p:cNvPr>
          <p:cNvSpPr/>
          <p:nvPr/>
        </p:nvSpPr>
        <p:spPr>
          <a:xfrm>
            <a:off x="6556248" y="2651760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66666"/>
                </a:solidFill>
              </a:rPr>
              <a:t>Teacher move: Connect + scaffold</a:t>
            </a:r>
            <a:endParaRPr lang="en-US" sz="1250" dirty="0"/>
          </a:p>
        </p:txBody>
      </p:sp>
      <p:sp>
        <p:nvSpPr>
          <p:cNvPr id="26" name="Shape 12">
            <a:extLst>
              <a:ext uri="{FF2B5EF4-FFF2-40B4-BE49-F238E27FC236}">
                <a16:creationId xmlns:a16="http://schemas.microsoft.com/office/drawing/2014/main" id="{C1B3C8C2-B75B-DB64-3ED5-39D1C524EC75}"/>
              </a:ext>
            </a:extLst>
          </p:cNvPr>
          <p:cNvSpPr/>
          <p:nvPr/>
        </p:nvSpPr>
        <p:spPr>
          <a:xfrm>
            <a:off x="749808" y="3840480"/>
            <a:ext cx="5157216" cy="1691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13">
            <a:extLst>
              <a:ext uri="{FF2B5EF4-FFF2-40B4-BE49-F238E27FC236}">
                <a16:creationId xmlns:a16="http://schemas.microsoft.com/office/drawing/2014/main" id="{BB057B11-2430-9A2A-605D-65BF1B522313}"/>
              </a:ext>
            </a:extLst>
          </p:cNvPr>
          <p:cNvSpPr/>
          <p:nvPr/>
        </p:nvSpPr>
        <p:spPr>
          <a:xfrm>
            <a:off x="749808" y="3840480"/>
            <a:ext cx="109728" cy="1691640"/>
          </a:xfrm>
          <a:prstGeom prst="rect">
            <a:avLst/>
          </a:prstGeom>
          <a:solidFill>
            <a:srgbClr val="2F6B4F"/>
          </a:solidFill>
          <a:ln w="12700">
            <a:solidFill>
              <a:srgbClr val="2F6B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14">
            <a:extLst>
              <a:ext uri="{FF2B5EF4-FFF2-40B4-BE49-F238E27FC236}">
                <a16:creationId xmlns:a16="http://schemas.microsoft.com/office/drawing/2014/main" id="{97B8FC8B-9D45-01D5-8074-2004AF43B195}"/>
              </a:ext>
            </a:extLst>
          </p:cNvPr>
          <p:cNvSpPr/>
          <p:nvPr/>
        </p:nvSpPr>
        <p:spPr>
          <a:xfrm>
            <a:off x="1042416" y="4041648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F6B4F"/>
                </a:solidFill>
              </a:rPr>
              <a:t>Constructivism</a:t>
            </a:r>
            <a:endParaRPr lang="en-US" sz="1800" dirty="0"/>
          </a:p>
        </p:txBody>
      </p:sp>
      <p:sp>
        <p:nvSpPr>
          <p:cNvPr id="32" name="Text 15">
            <a:extLst>
              <a:ext uri="{FF2B5EF4-FFF2-40B4-BE49-F238E27FC236}">
                <a16:creationId xmlns:a16="http://schemas.microsoft.com/office/drawing/2014/main" id="{02EC0AA0-0D52-322A-AE8B-D941922E5094}"/>
              </a:ext>
            </a:extLst>
          </p:cNvPr>
          <p:cNvSpPr/>
          <p:nvPr/>
        </p:nvSpPr>
        <p:spPr>
          <a:xfrm>
            <a:off x="1042416" y="4480560"/>
            <a:ext cx="4480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232323"/>
                </a:solidFill>
              </a:rPr>
              <a:t>Learning = meaning-making</a:t>
            </a:r>
            <a:endParaRPr lang="en-US" sz="1550" dirty="0"/>
          </a:p>
        </p:txBody>
      </p:sp>
      <p:sp>
        <p:nvSpPr>
          <p:cNvPr id="34" name="Text 16">
            <a:extLst>
              <a:ext uri="{FF2B5EF4-FFF2-40B4-BE49-F238E27FC236}">
                <a16:creationId xmlns:a16="http://schemas.microsoft.com/office/drawing/2014/main" id="{E7BB05A6-7130-6A44-5873-D412DC1D488B}"/>
              </a:ext>
            </a:extLst>
          </p:cNvPr>
          <p:cNvSpPr/>
          <p:nvPr/>
        </p:nvSpPr>
        <p:spPr>
          <a:xfrm>
            <a:off x="1042416" y="4919472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66666"/>
                </a:solidFill>
              </a:rPr>
              <a:t>Teacher move: Experience + reflection</a:t>
            </a:r>
            <a:endParaRPr lang="en-US" sz="1250" dirty="0"/>
          </a:p>
        </p:txBody>
      </p:sp>
      <p:sp>
        <p:nvSpPr>
          <p:cNvPr id="36" name="Shape 17">
            <a:extLst>
              <a:ext uri="{FF2B5EF4-FFF2-40B4-BE49-F238E27FC236}">
                <a16:creationId xmlns:a16="http://schemas.microsoft.com/office/drawing/2014/main" id="{829CE3D5-35DF-8516-B0AE-E974E6FB7D62}"/>
              </a:ext>
            </a:extLst>
          </p:cNvPr>
          <p:cNvSpPr/>
          <p:nvPr/>
        </p:nvSpPr>
        <p:spPr>
          <a:xfrm>
            <a:off x="6263640" y="3840480"/>
            <a:ext cx="5157216" cy="1691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Shape 18">
            <a:extLst>
              <a:ext uri="{FF2B5EF4-FFF2-40B4-BE49-F238E27FC236}">
                <a16:creationId xmlns:a16="http://schemas.microsoft.com/office/drawing/2014/main" id="{CABABB96-839E-1B42-00D9-F908A04CA1E5}"/>
              </a:ext>
            </a:extLst>
          </p:cNvPr>
          <p:cNvSpPr/>
          <p:nvPr/>
        </p:nvSpPr>
        <p:spPr>
          <a:xfrm>
            <a:off x="6263640" y="3840480"/>
            <a:ext cx="109728" cy="1691640"/>
          </a:xfrm>
          <a:prstGeom prst="rect">
            <a:avLst/>
          </a:prstGeom>
          <a:solidFill>
            <a:srgbClr val="B38B2E"/>
          </a:solidFill>
          <a:ln w="12700">
            <a:solidFill>
              <a:srgbClr val="B38B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19">
            <a:extLst>
              <a:ext uri="{FF2B5EF4-FFF2-40B4-BE49-F238E27FC236}">
                <a16:creationId xmlns:a16="http://schemas.microsoft.com/office/drawing/2014/main" id="{08FF548F-17BA-431C-31CF-3CDF9E2F75C4}"/>
              </a:ext>
            </a:extLst>
          </p:cNvPr>
          <p:cNvSpPr/>
          <p:nvPr/>
        </p:nvSpPr>
        <p:spPr>
          <a:xfrm>
            <a:off x="6556248" y="4041648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B38B2E"/>
                </a:solidFill>
              </a:rPr>
              <a:t>Humanism</a:t>
            </a:r>
            <a:endParaRPr lang="en-US" sz="1800" dirty="0"/>
          </a:p>
        </p:txBody>
      </p:sp>
      <p:sp>
        <p:nvSpPr>
          <p:cNvPr id="42" name="Text 20">
            <a:extLst>
              <a:ext uri="{FF2B5EF4-FFF2-40B4-BE49-F238E27FC236}">
                <a16:creationId xmlns:a16="http://schemas.microsoft.com/office/drawing/2014/main" id="{F8A56601-D82A-F001-7ECC-BC6DEBC6C681}"/>
              </a:ext>
            </a:extLst>
          </p:cNvPr>
          <p:cNvSpPr/>
          <p:nvPr/>
        </p:nvSpPr>
        <p:spPr>
          <a:xfrm>
            <a:off x="6556248" y="4480560"/>
            <a:ext cx="4480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232323"/>
                </a:solidFill>
              </a:rPr>
              <a:t>Learning = growth + meaning</a:t>
            </a:r>
            <a:endParaRPr lang="en-US" sz="1550" dirty="0"/>
          </a:p>
        </p:txBody>
      </p:sp>
      <p:sp>
        <p:nvSpPr>
          <p:cNvPr id="44" name="Text 21">
            <a:extLst>
              <a:ext uri="{FF2B5EF4-FFF2-40B4-BE49-F238E27FC236}">
                <a16:creationId xmlns:a16="http://schemas.microsoft.com/office/drawing/2014/main" id="{206C6BD5-B5A9-40BD-4C9F-C7D16768A12D}"/>
              </a:ext>
            </a:extLst>
          </p:cNvPr>
          <p:cNvSpPr/>
          <p:nvPr/>
        </p:nvSpPr>
        <p:spPr>
          <a:xfrm>
            <a:off x="6556248" y="4919472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66666"/>
                </a:solidFill>
              </a:rPr>
              <a:t>Teacher move: Relevance + agency</a:t>
            </a:r>
            <a:endParaRPr lang="en-US" sz="1250" dirty="0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24646760-4300-525E-0406-5B9233D88E1B}"/>
              </a:ext>
            </a:extLst>
          </p:cNvPr>
          <p:cNvSpPr txBox="1"/>
          <p:nvPr/>
        </p:nvSpPr>
        <p:spPr>
          <a:xfrm>
            <a:off x="685799" y="141779"/>
            <a:ext cx="276248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i="1" dirty="0">
                <a:solidFill>
                  <a:schemeClr val="bg2">
                    <a:lumMod val="25000"/>
                  </a:schemeClr>
                </a:solidFill>
              </a:rPr>
              <a:t>Understanding Student Learning</a:t>
            </a:r>
          </a:p>
        </p:txBody>
      </p:sp>
      <p:sp>
        <p:nvSpPr>
          <p:cNvPr id="48" name="Text 1">
            <a:extLst>
              <a:ext uri="{FF2B5EF4-FFF2-40B4-BE49-F238E27FC236}">
                <a16:creationId xmlns:a16="http://schemas.microsoft.com/office/drawing/2014/main" id="{091E05F4-6EF5-3667-8FE7-AA5B0B518F45}"/>
              </a:ext>
            </a:extLst>
          </p:cNvPr>
          <p:cNvSpPr/>
          <p:nvPr/>
        </p:nvSpPr>
        <p:spPr>
          <a:xfrm>
            <a:off x="804672" y="1175084"/>
            <a:ext cx="10789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Different theories emphasize different evidence of learning.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353116068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3B1D28-C762-3003-0584-13C33AB311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799" y="379793"/>
            <a:ext cx="10515600" cy="1325563"/>
          </a:xfrm>
        </p:spPr>
        <p:txBody>
          <a:bodyPr>
            <a:normAutofit/>
          </a:bodyPr>
          <a:lstStyle/>
          <a:p>
            <a:r>
              <a:rPr lang="en-US" sz="4000" dirty="0">
                <a:solidFill>
                  <a:srgbClr val="23232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Where can learning break down?</a:t>
            </a:r>
            <a:endParaRPr lang="en-US" sz="40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533C93B-8199-CAEE-0673-58A51F24A7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B9DE9F-8B04-4C5E-BF82-97AB5AC7190B}" type="slidenum">
              <a:rPr lang="en-US" smtClean="0"/>
              <a:t>6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EFC1ABC-DA38-1188-E675-ED2E8A7AD603}"/>
              </a:ext>
            </a:extLst>
          </p:cNvPr>
          <p:cNvSpPr txBox="1"/>
          <p:nvPr/>
        </p:nvSpPr>
        <p:spPr>
          <a:xfrm>
            <a:off x="685799" y="141779"/>
            <a:ext cx="276248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i="1" dirty="0">
                <a:solidFill>
                  <a:schemeClr val="bg2">
                    <a:lumMod val="25000"/>
                  </a:schemeClr>
                </a:solidFill>
              </a:rPr>
              <a:t>Understanding Student Learning</a:t>
            </a:r>
          </a:p>
        </p:txBody>
      </p:sp>
      <p:sp>
        <p:nvSpPr>
          <p:cNvPr id="13" name="Shape 2">
            <a:extLst>
              <a:ext uri="{FF2B5EF4-FFF2-40B4-BE49-F238E27FC236}">
                <a16:creationId xmlns:a16="http://schemas.microsoft.com/office/drawing/2014/main" id="{BC3172DC-8A26-64DA-8E33-0E8DD205669E}"/>
              </a:ext>
            </a:extLst>
          </p:cNvPr>
          <p:cNvSpPr/>
          <p:nvPr/>
        </p:nvSpPr>
        <p:spPr>
          <a:xfrm>
            <a:off x="1993392" y="1572768"/>
            <a:ext cx="713232" cy="713232"/>
          </a:xfrm>
          <a:prstGeom prst="ellipse">
            <a:avLst/>
          </a:prstGeom>
          <a:solidFill>
            <a:srgbClr val="9E1B32"/>
          </a:solidFill>
          <a:ln w="12700">
            <a:solidFill>
              <a:srgbClr val="9E1B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3">
            <a:extLst>
              <a:ext uri="{FF2B5EF4-FFF2-40B4-BE49-F238E27FC236}">
                <a16:creationId xmlns:a16="http://schemas.microsoft.com/office/drawing/2014/main" id="{EA4F112B-8501-74CB-3EC3-6E86728B6335}"/>
              </a:ext>
            </a:extLst>
          </p:cNvPr>
          <p:cNvSpPr/>
          <p:nvPr/>
        </p:nvSpPr>
        <p:spPr>
          <a:xfrm>
            <a:off x="1993392" y="1818870"/>
            <a:ext cx="7132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</a:rPr>
              <a:t>1</a:t>
            </a:r>
            <a:endParaRPr lang="en-US" sz="1700" dirty="0"/>
          </a:p>
        </p:txBody>
      </p:sp>
      <p:sp>
        <p:nvSpPr>
          <p:cNvPr id="17" name="Shape 4">
            <a:extLst>
              <a:ext uri="{FF2B5EF4-FFF2-40B4-BE49-F238E27FC236}">
                <a16:creationId xmlns:a16="http://schemas.microsoft.com/office/drawing/2014/main" id="{C0CD82DF-AC18-178C-D6FA-957CCBD2FF86}"/>
              </a:ext>
            </a:extLst>
          </p:cNvPr>
          <p:cNvSpPr/>
          <p:nvPr/>
        </p:nvSpPr>
        <p:spPr>
          <a:xfrm>
            <a:off x="3575304" y="1783080"/>
            <a:ext cx="1051560" cy="310896"/>
          </a:xfrm>
          <a:prstGeom prst="chevron">
            <a:avLst/>
          </a:prstGeom>
          <a:solidFill>
            <a:srgbClr val="DADADA"/>
          </a:solidFill>
          <a:ln w="12700">
            <a:solidFill>
              <a:srgbClr val="DADAD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5">
            <a:extLst>
              <a:ext uri="{FF2B5EF4-FFF2-40B4-BE49-F238E27FC236}">
                <a16:creationId xmlns:a16="http://schemas.microsoft.com/office/drawing/2014/main" id="{1F868B9A-1E51-11FE-D38E-011981F42DDB}"/>
              </a:ext>
            </a:extLst>
          </p:cNvPr>
          <p:cNvSpPr/>
          <p:nvPr/>
        </p:nvSpPr>
        <p:spPr>
          <a:xfrm>
            <a:off x="822960" y="2468880"/>
            <a:ext cx="3063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9E1B32"/>
                </a:solidFill>
              </a:rPr>
              <a:t>WHAT SHE BRINGS</a:t>
            </a:r>
            <a:endParaRPr lang="en-US" sz="1600" dirty="0"/>
          </a:p>
        </p:txBody>
      </p:sp>
      <p:sp>
        <p:nvSpPr>
          <p:cNvPr id="21" name="Text 6">
            <a:extLst>
              <a:ext uri="{FF2B5EF4-FFF2-40B4-BE49-F238E27FC236}">
                <a16:creationId xmlns:a16="http://schemas.microsoft.com/office/drawing/2014/main" id="{975EB641-541C-CDC2-3268-A85F94180E9F}"/>
              </a:ext>
            </a:extLst>
          </p:cNvPr>
          <p:cNvSpPr/>
          <p:nvPr/>
        </p:nvSpPr>
        <p:spPr>
          <a:xfrm>
            <a:off x="822960" y="2788920"/>
            <a:ext cx="3063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232323"/>
                </a:solidFill>
              </a:rPr>
              <a:t>Prior knowledge</a:t>
            </a:r>
            <a:endParaRPr lang="en-US" sz="3000" dirty="0"/>
          </a:p>
        </p:txBody>
      </p:sp>
      <p:sp>
        <p:nvSpPr>
          <p:cNvPr id="23" name="Text 7">
            <a:extLst>
              <a:ext uri="{FF2B5EF4-FFF2-40B4-BE49-F238E27FC236}">
                <a16:creationId xmlns:a16="http://schemas.microsoft.com/office/drawing/2014/main" id="{1C8AAF44-E1D4-5743-AE9F-010EF4D471B8}"/>
              </a:ext>
            </a:extLst>
          </p:cNvPr>
          <p:cNvSpPr/>
          <p:nvPr/>
        </p:nvSpPr>
        <p:spPr>
          <a:xfrm>
            <a:off x="932688" y="3346704"/>
            <a:ext cx="2834640" cy="1325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666666"/>
                </a:solidFill>
              </a:rPr>
              <a:t>New learning must connect to what Maya already knows -  and incorrect prior knowledge can interfere.</a:t>
            </a:r>
            <a:endParaRPr lang="en-US" sz="1600" dirty="0"/>
          </a:p>
        </p:txBody>
      </p:sp>
      <p:sp>
        <p:nvSpPr>
          <p:cNvPr id="25" name="Shape 8">
            <a:extLst>
              <a:ext uri="{FF2B5EF4-FFF2-40B4-BE49-F238E27FC236}">
                <a16:creationId xmlns:a16="http://schemas.microsoft.com/office/drawing/2014/main" id="{BF1E855E-A410-FD87-1613-EBF997F42258}"/>
              </a:ext>
            </a:extLst>
          </p:cNvPr>
          <p:cNvSpPr/>
          <p:nvPr/>
        </p:nvSpPr>
        <p:spPr>
          <a:xfrm>
            <a:off x="5495544" y="1572768"/>
            <a:ext cx="713232" cy="713232"/>
          </a:xfrm>
          <a:prstGeom prst="ellipse">
            <a:avLst/>
          </a:prstGeom>
          <a:solidFill>
            <a:srgbClr val="496A81"/>
          </a:solidFill>
          <a:ln w="12700">
            <a:solidFill>
              <a:srgbClr val="496A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9">
            <a:extLst>
              <a:ext uri="{FF2B5EF4-FFF2-40B4-BE49-F238E27FC236}">
                <a16:creationId xmlns:a16="http://schemas.microsoft.com/office/drawing/2014/main" id="{1C83160D-F50A-4630-26E0-7091B13D8B59}"/>
              </a:ext>
            </a:extLst>
          </p:cNvPr>
          <p:cNvSpPr/>
          <p:nvPr/>
        </p:nvSpPr>
        <p:spPr>
          <a:xfrm>
            <a:off x="5504688" y="1818386"/>
            <a:ext cx="7132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</a:rPr>
              <a:t>2</a:t>
            </a:r>
            <a:endParaRPr lang="en-US" sz="1700" dirty="0"/>
          </a:p>
        </p:txBody>
      </p:sp>
      <p:sp>
        <p:nvSpPr>
          <p:cNvPr id="29" name="Shape 10">
            <a:extLst>
              <a:ext uri="{FF2B5EF4-FFF2-40B4-BE49-F238E27FC236}">
                <a16:creationId xmlns:a16="http://schemas.microsoft.com/office/drawing/2014/main" id="{182469AA-B1EA-339A-E6EC-D004E89C7161}"/>
              </a:ext>
            </a:extLst>
          </p:cNvPr>
          <p:cNvSpPr/>
          <p:nvPr/>
        </p:nvSpPr>
        <p:spPr>
          <a:xfrm>
            <a:off x="7082028" y="1783080"/>
            <a:ext cx="1051560" cy="310896"/>
          </a:xfrm>
          <a:prstGeom prst="chevron">
            <a:avLst/>
          </a:prstGeom>
          <a:solidFill>
            <a:srgbClr val="DADADA"/>
          </a:solidFill>
          <a:ln w="12700">
            <a:solidFill>
              <a:srgbClr val="DADAD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11">
            <a:extLst>
              <a:ext uri="{FF2B5EF4-FFF2-40B4-BE49-F238E27FC236}">
                <a16:creationId xmlns:a16="http://schemas.microsoft.com/office/drawing/2014/main" id="{FA4386BA-ABA7-881D-D19A-4C0E8B9501DC}"/>
              </a:ext>
            </a:extLst>
          </p:cNvPr>
          <p:cNvSpPr/>
          <p:nvPr/>
        </p:nvSpPr>
        <p:spPr>
          <a:xfrm>
            <a:off x="4325112" y="2468880"/>
            <a:ext cx="3063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496A81"/>
                </a:solidFill>
              </a:rPr>
              <a:t>WHAT SHE CAN PROCESS</a:t>
            </a:r>
            <a:endParaRPr lang="en-US" sz="1600" dirty="0"/>
          </a:p>
        </p:txBody>
      </p:sp>
      <p:sp>
        <p:nvSpPr>
          <p:cNvPr id="33" name="Text 12">
            <a:extLst>
              <a:ext uri="{FF2B5EF4-FFF2-40B4-BE49-F238E27FC236}">
                <a16:creationId xmlns:a16="http://schemas.microsoft.com/office/drawing/2014/main" id="{3C1DB00C-A63A-686C-42F5-15E2B370A4C6}"/>
              </a:ext>
            </a:extLst>
          </p:cNvPr>
          <p:cNvSpPr/>
          <p:nvPr/>
        </p:nvSpPr>
        <p:spPr>
          <a:xfrm>
            <a:off x="4325112" y="2788920"/>
            <a:ext cx="3063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232323"/>
                </a:solidFill>
              </a:rPr>
              <a:t>Cognitive load</a:t>
            </a:r>
            <a:endParaRPr lang="en-US" sz="3000" dirty="0"/>
          </a:p>
        </p:txBody>
      </p:sp>
      <p:sp>
        <p:nvSpPr>
          <p:cNvPr id="35" name="Text 13">
            <a:extLst>
              <a:ext uri="{FF2B5EF4-FFF2-40B4-BE49-F238E27FC236}">
                <a16:creationId xmlns:a16="http://schemas.microsoft.com/office/drawing/2014/main" id="{A4A38B0C-8692-2782-812C-71251A416145}"/>
              </a:ext>
            </a:extLst>
          </p:cNvPr>
          <p:cNvSpPr/>
          <p:nvPr/>
        </p:nvSpPr>
        <p:spPr>
          <a:xfrm>
            <a:off x="4434840" y="3346704"/>
            <a:ext cx="2834640" cy="1325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666666"/>
                </a:solidFill>
              </a:rPr>
              <a:t>Too much unfamiliar information at once can exceed Maya’s short-term processing capacity.</a:t>
            </a:r>
            <a:endParaRPr lang="en-US" sz="1600" dirty="0"/>
          </a:p>
        </p:txBody>
      </p:sp>
      <p:sp>
        <p:nvSpPr>
          <p:cNvPr id="37" name="Shape 14">
            <a:extLst>
              <a:ext uri="{FF2B5EF4-FFF2-40B4-BE49-F238E27FC236}">
                <a16:creationId xmlns:a16="http://schemas.microsoft.com/office/drawing/2014/main" id="{E84093AA-300B-7F11-6119-F132408D8FA7}"/>
              </a:ext>
            </a:extLst>
          </p:cNvPr>
          <p:cNvSpPr/>
          <p:nvPr/>
        </p:nvSpPr>
        <p:spPr>
          <a:xfrm>
            <a:off x="8997696" y="1572768"/>
            <a:ext cx="713232" cy="713232"/>
          </a:xfrm>
          <a:prstGeom prst="ellipse">
            <a:avLst/>
          </a:prstGeom>
          <a:solidFill>
            <a:srgbClr val="2F6B4F"/>
          </a:solidFill>
          <a:ln w="12700">
            <a:solidFill>
              <a:srgbClr val="2F6B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15">
            <a:extLst>
              <a:ext uri="{FF2B5EF4-FFF2-40B4-BE49-F238E27FC236}">
                <a16:creationId xmlns:a16="http://schemas.microsoft.com/office/drawing/2014/main" id="{EFA79514-11E7-C053-F5F4-AFD75E49D5AE}"/>
              </a:ext>
            </a:extLst>
          </p:cNvPr>
          <p:cNvSpPr/>
          <p:nvPr/>
        </p:nvSpPr>
        <p:spPr>
          <a:xfrm>
            <a:off x="8997696" y="1828800"/>
            <a:ext cx="7132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</a:rPr>
              <a:t>3</a:t>
            </a:r>
            <a:endParaRPr lang="en-US" sz="1700" dirty="0"/>
          </a:p>
        </p:txBody>
      </p:sp>
      <p:sp>
        <p:nvSpPr>
          <p:cNvPr id="41" name="Text 16">
            <a:extLst>
              <a:ext uri="{FF2B5EF4-FFF2-40B4-BE49-F238E27FC236}">
                <a16:creationId xmlns:a16="http://schemas.microsoft.com/office/drawing/2014/main" id="{2C643FDA-ADAC-461D-A690-3F81CB639264}"/>
              </a:ext>
            </a:extLst>
          </p:cNvPr>
          <p:cNvSpPr/>
          <p:nvPr/>
        </p:nvSpPr>
        <p:spPr>
          <a:xfrm>
            <a:off x="7827264" y="2468880"/>
            <a:ext cx="3063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F6B4F"/>
                </a:solidFill>
              </a:rPr>
              <a:t>WHAT SHE CAN USE</a:t>
            </a:r>
            <a:endParaRPr lang="en-US" sz="1600" dirty="0"/>
          </a:p>
        </p:txBody>
      </p:sp>
      <p:sp>
        <p:nvSpPr>
          <p:cNvPr id="43" name="Text 17">
            <a:extLst>
              <a:ext uri="{FF2B5EF4-FFF2-40B4-BE49-F238E27FC236}">
                <a16:creationId xmlns:a16="http://schemas.microsoft.com/office/drawing/2014/main" id="{684CE4CB-A190-5350-4BC9-A7CA3AE72F82}"/>
              </a:ext>
            </a:extLst>
          </p:cNvPr>
          <p:cNvSpPr/>
          <p:nvPr/>
        </p:nvSpPr>
        <p:spPr>
          <a:xfrm>
            <a:off x="7827264" y="2788920"/>
            <a:ext cx="3063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232323"/>
                </a:solidFill>
              </a:rPr>
              <a:t>Transfer</a:t>
            </a:r>
            <a:endParaRPr lang="en-US" sz="3000" dirty="0"/>
          </a:p>
        </p:txBody>
      </p:sp>
      <p:sp>
        <p:nvSpPr>
          <p:cNvPr id="45" name="Text 18">
            <a:extLst>
              <a:ext uri="{FF2B5EF4-FFF2-40B4-BE49-F238E27FC236}">
                <a16:creationId xmlns:a16="http://schemas.microsoft.com/office/drawing/2014/main" id="{426758DF-B5CF-F1E2-2EBC-90D487BA34CF}"/>
              </a:ext>
            </a:extLst>
          </p:cNvPr>
          <p:cNvSpPr/>
          <p:nvPr/>
        </p:nvSpPr>
        <p:spPr>
          <a:xfrm>
            <a:off x="7936992" y="3346704"/>
            <a:ext cx="2834640" cy="1325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666666"/>
                </a:solidFill>
              </a:rPr>
              <a:t>Knowing something in one setting does not guarantee that Maya can recognize and apply it elsewhere.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203262535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4F2856-70A7-99D8-D4CB-887CFDD35E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799" y="384365"/>
            <a:ext cx="10515600" cy="1325563"/>
          </a:xfrm>
        </p:spPr>
        <p:txBody>
          <a:bodyPr>
            <a:normAutofit/>
          </a:bodyPr>
          <a:lstStyle/>
          <a:p>
            <a:r>
              <a:rPr lang="en-US" sz="4000" dirty="0"/>
              <a:t>Diagnosing Maya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F1BA1D7-70FD-332C-1F0A-0B5FFC1014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B9DE9F-8B04-4C5E-BF82-97AB5AC7190B}" type="slidenum">
              <a:rPr lang="en-US" smtClean="0"/>
              <a:t>7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EC691B0-DF05-0A5E-6842-85E6293FE670}"/>
              </a:ext>
            </a:extLst>
          </p:cNvPr>
          <p:cNvSpPr txBox="1"/>
          <p:nvPr/>
        </p:nvSpPr>
        <p:spPr>
          <a:xfrm>
            <a:off x="685799" y="141779"/>
            <a:ext cx="276248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i="1" dirty="0">
                <a:solidFill>
                  <a:schemeClr val="bg2">
                    <a:lumMod val="25000"/>
                  </a:schemeClr>
                </a:solidFill>
              </a:rPr>
              <a:t>Understanding Student Learning</a:t>
            </a:r>
          </a:p>
        </p:txBody>
      </p:sp>
      <p:sp>
        <p:nvSpPr>
          <p:cNvPr id="9" name="Text 1">
            <a:extLst>
              <a:ext uri="{FF2B5EF4-FFF2-40B4-BE49-F238E27FC236}">
                <a16:creationId xmlns:a16="http://schemas.microsoft.com/office/drawing/2014/main" id="{7E57DAF1-EAE9-E2C1-EBA7-DA796ABBECF0}"/>
              </a:ext>
            </a:extLst>
          </p:cNvPr>
          <p:cNvSpPr/>
          <p:nvPr/>
        </p:nvSpPr>
        <p:spPr>
          <a:xfrm>
            <a:off x="804672" y="1188720"/>
            <a:ext cx="10789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Using the frameworks</a:t>
            </a:r>
            <a:endParaRPr lang="en-US" sz="1400" dirty="0"/>
          </a:p>
        </p:txBody>
      </p:sp>
      <p:sp>
        <p:nvSpPr>
          <p:cNvPr id="11" name="Shape 2">
            <a:extLst>
              <a:ext uri="{FF2B5EF4-FFF2-40B4-BE49-F238E27FC236}">
                <a16:creationId xmlns:a16="http://schemas.microsoft.com/office/drawing/2014/main" id="{737CEC66-8061-42A1-C712-14427BF444F6}"/>
              </a:ext>
            </a:extLst>
          </p:cNvPr>
          <p:cNvSpPr/>
          <p:nvPr/>
        </p:nvSpPr>
        <p:spPr>
          <a:xfrm>
            <a:off x="804672" y="1508760"/>
            <a:ext cx="6565392" cy="4297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2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3">
            <a:extLst>
              <a:ext uri="{FF2B5EF4-FFF2-40B4-BE49-F238E27FC236}">
                <a16:creationId xmlns:a16="http://schemas.microsoft.com/office/drawing/2014/main" id="{8B8ED76C-30BA-38BF-4589-27823F146D91}"/>
              </a:ext>
            </a:extLst>
          </p:cNvPr>
          <p:cNvSpPr/>
          <p:nvPr/>
        </p:nvSpPr>
        <p:spPr>
          <a:xfrm>
            <a:off x="1115568" y="178308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9E1B32"/>
                </a:solidFill>
              </a:rPr>
              <a:t>CASE</a:t>
            </a:r>
            <a:endParaRPr lang="en-US" sz="1600" dirty="0"/>
          </a:p>
        </p:txBody>
      </p:sp>
      <p:sp>
        <p:nvSpPr>
          <p:cNvPr id="15" name="Text 4">
            <a:extLst>
              <a:ext uri="{FF2B5EF4-FFF2-40B4-BE49-F238E27FC236}">
                <a16:creationId xmlns:a16="http://schemas.microsoft.com/office/drawing/2014/main" id="{EFB89C59-E0D4-35CF-057F-F1F0DAD43083}"/>
              </a:ext>
            </a:extLst>
          </p:cNvPr>
          <p:cNvSpPr/>
          <p:nvPr/>
        </p:nvSpPr>
        <p:spPr>
          <a:xfrm>
            <a:off x="1115568" y="2221992"/>
            <a:ext cx="5897880" cy="1453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just">
              <a:buNone/>
            </a:pPr>
            <a:r>
              <a:rPr lang="en-US" sz="2600" dirty="0">
                <a:solidFill>
                  <a:srgbClr val="232323"/>
                </a:solidFill>
              </a:rPr>
              <a:t>Maya practices ten problems that look almost identical to the professor’s examples. On the exam, she solves similar problems correctly.</a:t>
            </a:r>
            <a:endParaRPr lang="en-US" sz="2600" dirty="0"/>
          </a:p>
        </p:txBody>
      </p:sp>
      <p:sp>
        <p:nvSpPr>
          <p:cNvPr id="17" name="Text 5">
            <a:extLst>
              <a:ext uri="{FF2B5EF4-FFF2-40B4-BE49-F238E27FC236}">
                <a16:creationId xmlns:a16="http://schemas.microsoft.com/office/drawing/2014/main" id="{9ABC341F-FE45-5A33-C99C-76E664BB0F0F}"/>
              </a:ext>
            </a:extLst>
          </p:cNvPr>
          <p:cNvSpPr/>
          <p:nvPr/>
        </p:nvSpPr>
        <p:spPr>
          <a:xfrm>
            <a:off x="1115568" y="3886200"/>
            <a:ext cx="589788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just">
              <a:buNone/>
            </a:pPr>
            <a:r>
              <a:rPr lang="en-US" sz="2000" b="1" dirty="0">
                <a:solidFill>
                  <a:srgbClr val="9E1B32"/>
                </a:solidFill>
              </a:rPr>
              <a:t>Two weeks later, the same underlying principle appears in a completely different context. She does not recognize that it applies.</a:t>
            </a:r>
            <a:endParaRPr lang="en-US" sz="2000" dirty="0"/>
          </a:p>
        </p:txBody>
      </p:sp>
      <p:sp>
        <p:nvSpPr>
          <p:cNvPr id="19" name="Text 6">
            <a:extLst>
              <a:ext uri="{FF2B5EF4-FFF2-40B4-BE49-F238E27FC236}">
                <a16:creationId xmlns:a16="http://schemas.microsoft.com/office/drawing/2014/main" id="{A9A543A8-FA3F-D8F8-0BD3-69FE0B166044}"/>
              </a:ext>
            </a:extLst>
          </p:cNvPr>
          <p:cNvSpPr/>
          <p:nvPr/>
        </p:nvSpPr>
        <p:spPr>
          <a:xfrm>
            <a:off x="1115568" y="4937760"/>
            <a:ext cx="5897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32323"/>
                </a:solidFill>
              </a:rPr>
              <a:t>What is the most visible learning challenge?</a:t>
            </a:r>
            <a:endParaRPr lang="en-US" sz="2000" dirty="0"/>
          </a:p>
        </p:txBody>
      </p:sp>
      <p:sp>
        <p:nvSpPr>
          <p:cNvPr id="21" name="Shape 7">
            <a:extLst>
              <a:ext uri="{FF2B5EF4-FFF2-40B4-BE49-F238E27FC236}">
                <a16:creationId xmlns:a16="http://schemas.microsoft.com/office/drawing/2014/main" id="{47CEF767-5702-5E88-01AF-20E35F220BC3}"/>
              </a:ext>
            </a:extLst>
          </p:cNvPr>
          <p:cNvSpPr/>
          <p:nvPr/>
        </p:nvSpPr>
        <p:spPr>
          <a:xfrm>
            <a:off x="7818120" y="1773936"/>
            <a:ext cx="3246120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8">
            <a:extLst>
              <a:ext uri="{FF2B5EF4-FFF2-40B4-BE49-F238E27FC236}">
                <a16:creationId xmlns:a16="http://schemas.microsoft.com/office/drawing/2014/main" id="{E3E490EA-F65B-B303-F754-05B78C448DB8}"/>
              </a:ext>
            </a:extLst>
          </p:cNvPr>
          <p:cNvSpPr/>
          <p:nvPr/>
        </p:nvSpPr>
        <p:spPr>
          <a:xfrm>
            <a:off x="8028432" y="1938528"/>
            <a:ext cx="3291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dirty="0">
                <a:solidFill>
                  <a:srgbClr val="666666"/>
                </a:solidFill>
              </a:rPr>
              <a:t>1</a:t>
            </a:r>
            <a:endParaRPr lang="en-US" dirty="0"/>
          </a:p>
        </p:txBody>
      </p:sp>
      <p:sp>
        <p:nvSpPr>
          <p:cNvPr id="25" name="Text 9">
            <a:extLst>
              <a:ext uri="{FF2B5EF4-FFF2-40B4-BE49-F238E27FC236}">
                <a16:creationId xmlns:a16="http://schemas.microsoft.com/office/drawing/2014/main" id="{10B53920-A657-4C59-8B11-F610C67785D6}"/>
              </a:ext>
            </a:extLst>
          </p:cNvPr>
          <p:cNvSpPr/>
          <p:nvPr/>
        </p:nvSpPr>
        <p:spPr>
          <a:xfrm>
            <a:off x="8485632" y="1920240"/>
            <a:ext cx="221284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232323"/>
                </a:solidFill>
              </a:rPr>
              <a:t>Prior knowledge</a:t>
            </a:r>
            <a:endParaRPr lang="en-US" dirty="0"/>
          </a:p>
        </p:txBody>
      </p:sp>
      <p:sp>
        <p:nvSpPr>
          <p:cNvPr id="27" name="Shape 10">
            <a:extLst>
              <a:ext uri="{FF2B5EF4-FFF2-40B4-BE49-F238E27FC236}">
                <a16:creationId xmlns:a16="http://schemas.microsoft.com/office/drawing/2014/main" id="{EA5240D1-2C59-D8E3-E919-BF5C8EF678B7}"/>
              </a:ext>
            </a:extLst>
          </p:cNvPr>
          <p:cNvSpPr/>
          <p:nvPr/>
        </p:nvSpPr>
        <p:spPr>
          <a:xfrm>
            <a:off x="7818120" y="2642616"/>
            <a:ext cx="3246120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29" name="Text 11">
            <a:extLst>
              <a:ext uri="{FF2B5EF4-FFF2-40B4-BE49-F238E27FC236}">
                <a16:creationId xmlns:a16="http://schemas.microsoft.com/office/drawing/2014/main" id="{9964B7FA-182F-FBC6-1DF2-1CBA62D16800}"/>
              </a:ext>
            </a:extLst>
          </p:cNvPr>
          <p:cNvSpPr/>
          <p:nvPr/>
        </p:nvSpPr>
        <p:spPr>
          <a:xfrm>
            <a:off x="8028432" y="2807208"/>
            <a:ext cx="3291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dirty="0">
                <a:solidFill>
                  <a:srgbClr val="666666"/>
                </a:solidFill>
              </a:rPr>
              <a:t>2</a:t>
            </a:r>
            <a:endParaRPr lang="en-US" dirty="0"/>
          </a:p>
        </p:txBody>
      </p:sp>
      <p:sp>
        <p:nvSpPr>
          <p:cNvPr id="31" name="Text 12">
            <a:extLst>
              <a:ext uri="{FF2B5EF4-FFF2-40B4-BE49-F238E27FC236}">
                <a16:creationId xmlns:a16="http://schemas.microsoft.com/office/drawing/2014/main" id="{599E606A-9A90-03AA-CDE2-396FF9B22A58}"/>
              </a:ext>
            </a:extLst>
          </p:cNvPr>
          <p:cNvSpPr/>
          <p:nvPr/>
        </p:nvSpPr>
        <p:spPr>
          <a:xfrm>
            <a:off x="8485632" y="2788920"/>
            <a:ext cx="221284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232323"/>
                </a:solidFill>
              </a:rPr>
              <a:t>Cognitive load</a:t>
            </a:r>
            <a:endParaRPr lang="en-US" dirty="0"/>
          </a:p>
        </p:txBody>
      </p:sp>
      <p:grpSp>
        <p:nvGrpSpPr>
          <p:cNvPr id="45" name="Group 44">
            <a:extLst>
              <a:ext uri="{FF2B5EF4-FFF2-40B4-BE49-F238E27FC236}">
                <a16:creationId xmlns:a16="http://schemas.microsoft.com/office/drawing/2014/main" id="{6679612B-7FD8-8A21-43F7-2C4CB07798AF}"/>
              </a:ext>
            </a:extLst>
          </p:cNvPr>
          <p:cNvGrpSpPr/>
          <p:nvPr/>
        </p:nvGrpSpPr>
        <p:grpSpPr>
          <a:xfrm>
            <a:off x="7818120" y="3511296"/>
            <a:ext cx="3246120" cy="640080"/>
            <a:chOff x="7818120" y="3511296"/>
            <a:chExt cx="3246120" cy="640080"/>
          </a:xfrm>
        </p:grpSpPr>
        <p:sp>
          <p:nvSpPr>
            <p:cNvPr id="33" name="Shape 13">
              <a:extLst>
                <a:ext uri="{FF2B5EF4-FFF2-40B4-BE49-F238E27FC236}">
                  <a16:creationId xmlns:a16="http://schemas.microsoft.com/office/drawing/2014/main" id="{0CB1763A-2F06-F1C2-6A6E-435C29F48482}"/>
                </a:ext>
              </a:extLst>
            </p:cNvPr>
            <p:cNvSpPr/>
            <p:nvPr/>
          </p:nvSpPr>
          <p:spPr>
            <a:xfrm>
              <a:off x="7818120" y="3511296"/>
              <a:ext cx="3246120" cy="640080"/>
            </a:xfrm>
            <a:prstGeom prst="roundRect">
              <a:avLst/>
            </a:prstGeom>
            <a:noFill/>
            <a:ln w="12700">
              <a:solidFill>
                <a:schemeClr val="bg2">
                  <a:lumMod val="90000"/>
                </a:schemeClr>
              </a:solidFill>
              <a:prstDash val="soli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5" name="Text 14">
              <a:extLst>
                <a:ext uri="{FF2B5EF4-FFF2-40B4-BE49-F238E27FC236}">
                  <a16:creationId xmlns:a16="http://schemas.microsoft.com/office/drawing/2014/main" id="{E986E77B-4BE0-F7A9-5ADC-4F812C39EF71}"/>
                </a:ext>
              </a:extLst>
            </p:cNvPr>
            <p:cNvSpPr/>
            <p:nvPr/>
          </p:nvSpPr>
          <p:spPr>
            <a:xfrm>
              <a:off x="8028432" y="3675888"/>
              <a:ext cx="329184" cy="20116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dirty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3</a:t>
              </a:r>
            </a:p>
          </p:txBody>
        </p:sp>
        <p:sp>
          <p:nvSpPr>
            <p:cNvPr id="37" name="Text 15">
              <a:extLst>
                <a:ext uri="{FF2B5EF4-FFF2-40B4-BE49-F238E27FC236}">
                  <a16:creationId xmlns:a16="http://schemas.microsoft.com/office/drawing/2014/main" id="{5F3ECD79-32DA-47FE-DB5A-1C142CEE1D39}"/>
                </a:ext>
              </a:extLst>
            </p:cNvPr>
            <p:cNvSpPr/>
            <p:nvPr/>
          </p:nvSpPr>
          <p:spPr>
            <a:xfrm>
              <a:off x="8485632" y="3657600"/>
              <a:ext cx="2212848" cy="24688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dirty="0"/>
                <a:t>Transfer</a:t>
              </a:r>
            </a:p>
          </p:txBody>
        </p:sp>
      </p:grpSp>
      <p:sp>
        <p:nvSpPr>
          <p:cNvPr id="39" name="Shape 16">
            <a:extLst>
              <a:ext uri="{FF2B5EF4-FFF2-40B4-BE49-F238E27FC236}">
                <a16:creationId xmlns:a16="http://schemas.microsoft.com/office/drawing/2014/main" id="{3887A167-AE4A-BEF6-CAB9-BF682FA02174}"/>
              </a:ext>
            </a:extLst>
          </p:cNvPr>
          <p:cNvSpPr/>
          <p:nvPr/>
        </p:nvSpPr>
        <p:spPr>
          <a:xfrm>
            <a:off x="7818120" y="4379976"/>
            <a:ext cx="3246120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17">
            <a:extLst>
              <a:ext uri="{FF2B5EF4-FFF2-40B4-BE49-F238E27FC236}">
                <a16:creationId xmlns:a16="http://schemas.microsoft.com/office/drawing/2014/main" id="{EF8F430C-4213-3FA8-A745-6D939C57C8EB}"/>
              </a:ext>
            </a:extLst>
          </p:cNvPr>
          <p:cNvSpPr/>
          <p:nvPr/>
        </p:nvSpPr>
        <p:spPr>
          <a:xfrm>
            <a:off x="8028432" y="4544568"/>
            <a:ext cx="3291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dirty="0">
                <a:solidFill>
                  <a:srgbClr val="666666"/>
                </a:solidFill>
              </a:rPr>
              <a:t>4</a:t>
            </a:r>
            <a:endParaRPr lang="en-US" dirty="0"/>
          </a:p>
        </p:txBody>
      </p:sp>
      <p:sp>
        <p:nvSpPr>
          <p:cNvPr id="43" name="Text 18">
            <a:extLst>
              <a:ext uri="{FF2B5EF4-FFF2-40B4-BE49-F238E27FC236}">
                <a16:creationId xmlns:a16="http://schemas.microsoft.com/office/drawing/2014/main" id="{00AD235B-4864-E588-C819-4B0E532F8F33}"/>
              </a:ext>
            </a:extLst>
          </p:cNvPr>
          <p:cNvSpPr/>
          <p:nvPr/>
        </p:nvSpPr>
        <p:spPr>
          <a:xfrm>
            <a:off x="8485632" y="4526280"/>
            <a:ext cx="221284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232323"/>
                </a:solidFill>
              </a:rPr>
              <a:t>Attention</a:t>
            </a:r>
            <a:endParaRPr lang="en-US" dirty="0"/>
          </a:p>
        </p:txBody>
      </p:sp>
      <p:grpSp>
        <p:nvGrpSpPr>
          <p:cNvPr id="50" name="Group 49">
            <a:extLst>
              <a:ext uri="{FF2B5EF4-FFF2-40B4-BE49-F238E27FC236}">
                <a16:creationId xmlns:a16="http://schemas.microsoft.com/office/drawing/2014/main" id="{86F96B45-3B89-F8C3-00C2-736B7373EC67}"/>
              </a:ext>
            </a:extLst>
          </p:cNvPr>
          <p:cNvGrpSpPr/>
          <p:nvPr/>
        </p:nvGrpSpPr>
        <p:grpSpPr>
          <a:xfrm>
            <a:off x="7818120" y="3503422"/>
            <a:ext cx="3246120" cy="640080"/>
            <a:chOff x="7818120" y="3511296"/>
            <a:chExt cx="3246120" cy="640080"/>
          </a:xfrm>
          <a:solidFill>
            <a:srgbClr val="F5E8EC"/>
          </a:solidFill>
        </p:grpSpPr>
        <p:sp>
          <p:nvSpPr>
            <p:cNvPr id="51" name="Shape 13">
              <a:extLst>
                <a:ext uri="{FF2B5EF4-FFF2-40B4-BE49-F238E27FC236}">
                  <a16:creationId xmlns:a16="http://schemas.microsoft.com/office/drawing/2014/main" id="{3B77AA06-9284-F223-CE43-79AD1E9F5759}"/>
                </a:ext>
              </a:extLst>
            </p:cNvPr>
            <p:cNvSpPr/>
            <p:nvPr/>
          </p:nvSpPr>
          <p:spPr>
            <a:xfrm>
              <a:off x="7818120" y="3511296"/>
              <a:ext cx="3246120" cy="640080"/>
            </a:xfrm>
            <a:prstGeom prst="roundRect">
              <a:avLst/>
            </a:prstGeom>
            <a:grpFill/>
            <a:ln w="12700">
              <a:solidFill>
                <a:schemeClr val="bg2">
                  <a:lumMod val="90000"/>
                </a:schemeClr>
              </a:solidFill>
              <a:prstDash val="soli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2" name="Text 14">
              <a:extLst>
                <a:ext uri="{FF2B5EF4-FFF2-40B4-BE49-F238E27FC236}">
                  <a16:creationId xmlns:a16="http://schemas.microsoft.com/office/drawing/2014/main" id="{252AB4AA-1562-425B-CDE7-8B29AF7741E3}"/>
                </a:ext>
              </a:extLst>
            </p:cNvPr>
            <p:cNvSpPr/>
            <p:nvPr/>
          </p:nvSpPr>
          <p:spPr>
            <a:xfrm>
              <a:off x="8028432" y="3675888"/>
              <a:ext cx="329184" cy="201168"/>
            </a:xfrm>
            <a:prstGeom prst="rect">
              <a:avLst/>
            </a:prstGeom>
            <a:grp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dirty="0">
                  <a:solidFill>
                    <a:srgbClr val="C00000"/>
                  </a:solidFill>
                </a:rPr>
                <a:t>3</a:t>
              </a:r>
            </a:p>
          </p:txBody>
        </p:sp>
        <p:sp>
          <p:nvSpPr>
            <p:cNvPr id="53" name="Text 15">
              <a:extLst>
                <a:ext uri="{FF2B5EF4-FFF2-40B4-BE49-F238E27FC236}">
                  <a16:creationId xmlns:a16="http://schemas.microsoft.com/office/drawing/2014/main" id="{E82D5145-2138-EC0B-E2D0-D8600BA6F52C}"/>
                </a:ext>
              </a:extLst>
            </p:cNvPr>
            <p:cNvSpPr/>
            <p:nvPr/>
          </p:nvSpPr>
          <p:spPr>
            <a:xfrm>
              <a:off x="8485632" y="3657600"/>
              <a:ext cx="2212848" cy="246888"/>
            </a:xfrm>
            <a:prstGeom prst="rect">
              <a:avLst/>
            </a:prstGeom>
            <a:grp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dirty="0">
                  <a:solidFill>
                    <a:srgbClr val="C00000"/>
                  </a:solidFill>
                </a:rPr>
                <a:t>Transfer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2342253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/>
      <p:bldP spid="6" grpId="0"/>
      <p:bldP spid="9" grpId="0" animBg="1"/>
      <p:bldP spid="11" grpId="0" animBg="1"/>
      <p:bldP spid="13" grpId="0" animBg="1"/>
      <p:bldP spid="15" grpId="0" animBg="1"/>
      <p:bldP spid="17" grpId="0" animBg="1"/>
      <p:bldP spid="19" grpId="0" animBg="1"/>
      <p:bldP spid="21" grpId="0" animBg="1"/>
      <p:bldP spid="23" grpId="0" animBg="1"/>
      <p:bldP spid="25" grpId="0" animBg="1"/>
      <p:bldP spid="27" grpId="0" animBg="1"/>
      <p:bldP spid="29" grpId="0" animBg="1"/>
      <p:bldP spid="31" grpId="0" animBg="1"/>
      <p:bldP spid="39" grpId="0" animBg="1"/>
      <p:bldP spid="41" grpId="0" animBg="1"/>
      <p:bldP spid="43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87602A-AEBF-27CA-CC91-D0D4C2D45F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799" y="410368"/>
            <a:ext cx="10515600" cy="1325563"/>
          </a:xfrm>
        </p:spPr>
        <p:txBody>
          <a:bodyPr>
            <a:normAutofit/>
          </a:bodyPr>
          <a:lstStyle/>
          <a:p>
            <a:r>
              <a:rPr lang="en-US" sz="4000" dirty="0"/>
              <a:t>Teach Maya Differently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C54099B-1970-ABF2-FCB7-D48C0FADA9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B9DE9F-8B04-4C5E-BF82-97AB5AC7190B}" type="slidenum">
              <a:rPr lang="en-US" smtClean="0"/>
              <a:t>8</a:t>
            </a:fld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B4F9483-6844-4F44-0659-2D65953BC699}"/>
              </a:ext>
            </a:extLst>
          </p:cNvPr>
          <p:cNvSpPr txBox="1"/>
          <p:nvPr/>
        </p:nvSpPr>
        <p:spPr>
          <a:xfrm>
            <a:off x="685799" y="141779"/>
            <a:ext cx="276248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bg2">
                    <a:lumMod val="25000"/>
                  </a:schemeClr>
                </a:solidFill>
              </a:rPr>
              <a:t>Understanding Student Learning</a:t>
            </a:r>
          </a:p>
        </p:txBody>
      </p:sp>
      <p:sp>
        <p:nvSpPr>
          <p:cNvPr id="11" name="Text 1">
            <a:extLst>
              <a:ext uri="{FF2B5EF4-FFF2-40B4-BE49-F238E27FC236}">
                <a16:creationId xmlns:a16="http://schemas.microsoft.com/office/drawing/2014/main" id="{6300C786-43D7-020C-8569-FEE92028A1D6}"/>
              </a:ext>
            </a:extLst>
          </p:cNvPr>
          <p:cNvSpPr/>
          <p:nvPr/>
        </p:nvSpPr>
        <p:spPr>
          <a:xfrm>
            <a:off x="804672" y="1225296"/>
            <a:ext cx="10789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Match the teaching move to the learning barrier.</a:t>
            </a:r>
            <a:endParaRPr lang="en-US" sz="1400" dirty="0"/>
          </a:p>
        </p:txBody>
      </p:sp>
      <p:sp>
        <p:nvSpPr>
          <p:cNvPr id="69" name="Shape 2">
            <a:extLst>
              <a:ext uri="{FF2B5EF4-FFF2-40B4-BE49-F238E27FC236}">
                <a16:creationId xmlns:a16="http://schemas.microsoft.com/office/drawing/2014/main" id="{2654CD69-2AF8-828C-53CD-1720388F053F}"/>
              </a:ext>
            </a:extLst>
          </p:cNvPr>
          <p:cNvSpPr/>
          <p:nvPr/>
        </p:nvSpPr>
        <p:spPr>
          <a:xfrm>
            <a:off x="713232" y="1572768"/>
            <a:ext cx="3429000" cy="3794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1" name="Text 3">
            <a:extLst>
              <a:ext uri="{FF2B5EF4-FFF2-40B4-BE49-F238E27FC236}">
                <a16:creationId xmlns:a16="http://schemas.microsoft.com/office/drawing/2014/main" id="{C71E85A2-96D1-52B6-57D9-34A5ADA31B06}"/>
              </a:ext>
            </a:extLst>
          </p:cNvPr>
          <p:cNvSpPr/>
          <p:nvPr/>
        </p:nvSpPr>
        <p:spPr>
          <a:xfrm>
            <a:off x="941832" y="1856232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9E1B32"/>
                </a:solidFill>
              </a:rPr>
              <a:t>ACTIVATE</a:t>
            </a:r>
            <a:endParaRPr lang="en-US" sz="2000" dirty="0"/>
          </a:p>
        </p:txBody>
      </p:sp>
      <p:sp>
        <p:nvSpPr>
          <p:cNvPr id="73" name="Text 4">
            <a:extLst>
              <a:ext uri="{FF2B5EF4-FFF2-40B4-BE49-F238E27FC236}">
                <a16:creationId xmlns:a16="http://schemas.microsoft.com/office/drawing/2014/main" id="{6D5787AD-6B1D-6D0D-A748-8D5111B761B5}"/>
              </a:ext>
            </a:extLst>
          </p:cNvPr>
          <p:cNvSpPr/>
          <p:nvPr/>
        </p:nvSpPr>
        <p:spPr>
          <a:xfrm>
            <a:off x="941832" y="2249424"/>
            <a:ext cx="2971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66666"/>
                </a:solidFill>
              </a:rPr>
              <a:t>Before learning</a:t>
            </a:r>
            <a:endParaRPr lang="en-US" sz="1050" dirty="0"/>
          </a:p>
        </p:txBody>
      </p:sp>
      <p:sp>
        <p:nvSpPr>
          <p:cNvPr id="75" name="Shape 5">
            <a:extLst>
              <a:ext uri="{FF2B5EF4-FFF2-40B4-BE49-F238E27FC236}">
                <a16:creationId xmlns:a16="http://schemas.microsoft.com/office/drawing/2014/main" id="{8547A3C9-B9AF-8CFA-3E53-2DE1A122CFCE}"/>
              </a:ext>
            </a:extLst>
          </p:cNvPr>
          <p:cNvSpPr/>
          <p:nvPr/>
        </p:nvSpPr>
        <p:spPr>
          <a:xfrm>
            <a:off x="1133856" y="2688336"/>
            <a:ext cx="2596896" cy="0"/>
          </a:xfrm>
          <a:prstGeom prst="line">
            <a:avLst/>
          </a:prstGeom>
          <a:noFill/>
          <a:ln w="12700">
            <a:solidFill>
              <a:srgbClr val="E4E4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7" name="Text 6">
            <a:extLst>
              <a:ext uri="{FF2B5EF4-FFF2-40B4-BE49-F238E27FC236}">
                <a16:creationId xmlns:a16="http://schemas.microsoft.com/office/drawing/2014/main" id="{92267E06-93FF-4755-63A3-42D959E5D207}"/>
              </a:ext>
            </a:extLst>
          </p:cNvPr>
          <p:cNvSpPr/>
          <p:nvPr/>
        </p:nvSpPr>
        <p:spPr>
          <a:xfrm>
            <a:off x="987552" y="2907792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666666"/>
                </a:solidFill>
              </a:rPr>
              <a:t>Barrier</a:t>
            </a:r>
            <a:endParaRPr lang="en-US" sz="1000" dirty="0"/>
          </a:p>
        </p:txBody>
      </p:sp>
      <p:sp>
        <p:nvSpPr>
          <p:cNvPr id="79" name="Text 7">
            <a:extLst>
              <a:ext uri="{FF2B5EF4-FFF2-40B4-BE49-F238E27FC236}">
                <a16:creationId xmlns:a16="http://schemas.microsoft.com/office/drawing/2014/main" id="{9A0437AB-FE68-3279-FADA-9A6DD1CBE395}"/>
              </a:ext>
            </a:extLst>
          </p:cNvPr>
          <p:cNvSpPr/>
          <p:nvPr/>
        </p:nvSpPr>
        <p:spPr>
          <a:xfrm>
            <a:off x="1673352" y="2862072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32323"/>
                </a:solidFill>
              </a:rPr>
              <a:t>Prior knowledge</a:t>
            </a:r>
            <a:endParaRPr lang="en-US" sz="1350" dirty="0"/>
          </a:p>
        </p:txBody>
      </p:sp>
      <p:sp>
        <p:nvSpPr>
          <p:cNvPr id="81" name="Text 8">
            <a:extLst>
              <a:ext uri="{FF2B5EF4-FFF2-40B4-BE49-F238E27FC236}">
                <a16:creationId xmlns:a16="http://schemas.microsoft.com/office/drawing/2014/main" id="{AFEB5F57-13D0-F636-B1CF-942FD323557D}"/>
              </a:ext>
            </a:extLst>
          </p:cNvPr>
          <p:cNvSpPr/>
          <p:nvPr/>
        </p:nvSpPr>
        <p:spPr>
          <a:xfrm>
            <a:off x="987552" y="3401568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666666"/>
                </a:solidFill>
              </a:rPr>
              <a:t>Move</a:t>
            </a:r>
            <a:endParaRPr lang="en-US" sz="1000" dirty="0"/>
          </a:p>
        </p:txBody>
      </p:sp>
      <p:sp>
        <p:nvSpPr>
          <p:cNvPr id="83" name="Text 9">
            <a:extLst>
              <a:ext uri="{FF2B5EF4-FFF2-40B4-BE49-F238E27FC236}">
                <a16:creationId xmlns:a16="http://schemas.microsoft.com/office/drawing/2014/main" id="{7ED4DFBD-A673-8AD1-1EAD-9FC7ED49CF46}"/>
              </a:ext>
            </a:extLst>
          </p:cNvPr>
          <p:cNvSpPr/>
          <p:nvPr/>
        </p:nvSpPr>
        <p:spPr>
          <a:xfrm>
            <a:off x="1673352" y="3310128"/>
            <a:ext cx="2148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32323"/>
                </a:solidFill>
              </a:rPr>
              <a:t>Quick Write / Background Knowledge Probe</a:t>
            </a:r>
            <a:endParaRPr lang="en-US" sz="1300" dirty="0"/>
          </a:p>
        </p:txBody>
      </p:sp>
      <p:sp>
        <p:nvSpPr>
          <p:cNvPr id="85" name="Shape 10">
            <a:extLst>
              <a:ext uri="{FF2B5EF4-FFF2-40B4-BE49-F238E27FC236}">
                <a16:creationId xmlns:a16="http://schemas.microsoft.com/office/drawing/2014/main" id="{934999AB-150B-E4B3-6A18-33FB95B6D19E}"/>
              </a:ext>
            </a:extLst>
          </p:cNvPr>
          <p:cNvSpPr/>
          <p:nvPr/>
        </p:nvSpPr>
        <p:spPr>
          <a:xfrm>
            <a:off x="987552" y="4096512"/>
            <a:ext cx="2880360" cy="786384"/>
          </a:xfrm>
          <a:prstGeom prst="roundRect">
            <a:avLst/>
          </a:prstGeom>
          <a:solidFill>
            <a:srgbClr val="F8EAEE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7" name="Text 11">
            <a:extLst>
              <a:ext uri="{FF2B5EF4-FFF2-40B4-BE49-F238E27FC236}">
                <a16:creationId xmlns:a16="http://schemas.microsoft.com/office/drawing/2014/main" id="{085D11E9-0455-CFD1-0F3D-41A2853380E4}"/>
              </a:ext>
            </a:extLst>
          </p:cNvPr>
          <p:cNvSpPr/>
          <p:nvPr/>
        </p:nvSpPr>
        <p:spPr>
          <a:xfrm>
            <a:off x="1133856" y="4261104"/>
            <a:ext cx="258775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232323"/>
                </a:solidFill>
              </a:rPr>
              <a:t>“What do you already know about ___?”</a:t>
            </a:r>
            <a:endParaRPr lang="en-US" sz="1150" dirty="0"/>
          </a:p>
        </p:txBody>
      </p:sp>
      <p:sp>
        <p:nvSpPr>
          <p:cNvPr id="89" name="Shape 12">
            <a:extLst>
              <a:ext uri="{FF2B5EF4-FFF2-40B4-BE49-F238E27FC236}">
                <a16:creationId xmlns:a16="http://schemas.microsoft.com/office/drawing/2014/main" id="{E3A38526-1CB7-8646-C6B9-E6C58F6F99E4}"/>
              </a:ext>
            </a:extLst>
          </p:cNvPr>
          <p:cNvSpPr/>
          <p:nvPr/>
        </p:nvSpPr>
        <p:spPr>
          <a:xfrm>
            <a:off x="4535424" y="1572768"/>
            <a:ext cx="3429000" cy="3794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1" name="Text 13">
            <a:extLst>
              <a:ext uri="{FF2B5EF4-FFF2-40B4-BE49-F238E27FC236}">
                <a16:creationId xmlns:a16="http://schemas.microsoft.com/office/drawing/2014/main" id="{33C8C155-C7C6-5F15-6A4B-C78F5DB0A08C}"/>
              </a:ext>
            </a:extLst>
          </p:cNvPr>
          <p:cNvSpPr/>
          <p:nvPr/>
        </p:nvSpPr>
        <p:spPr>
          <a:xfrm>
            <a:off x="4764024" y="1856232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496A81"/>
                </a:solidFill>
              </a:rPr>
              <a:t>CHUNK</a:t>
            </a:r>
            <a:endParaRPr lang="en-US" sz="2000" dirty="0"/>
          </a:p>
        </p:txBody>
      </p:sp>
      <p:sp>
        <p:nvSpPr>
          <p:cNvPr id="93" name="Text 14">
            <a:extLst>
              <a:ext uri="{FF2B5EF4-FFF2-40B4-BE49-F238E27FC236}">
                <a16:creationId xmlns:a16="http://schemas.microsoft.com/office/drawing/2014/main" id="{B819671A-2D00-6051-0CD4-87EF188102B8}"/>
              </a:ext>
            </a:extLst>
          </p:cNvPr>
          <p:cNvSpPr/>
          <p:nvPr/>
        </p:nvSpPr>
        <p:spPr>
          <a:xfrm>
            <a:off x="4764024" y="2249424"/>
            <a:ext cx="2971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66666"/>
                </a:solidFill>
              </a:rPr>
              <a:t>During learning</a:t>
            </a:r>
            <a:endParaRPr lang="en-US" sz="1050" dirty="0"/>
          </a:p>
        </p:txBody>
      </p:sp>
      <p:sp>
        <p:nvSpPr>
          <p:cNvPr id="95" name="Shape 15">
            <a:extLst>
              <a:ext uri="{FF2B5EF4-FFF2-40B4-BE49-F238E27FC236}">
                <a16:creationId xmlns:a16="http://schemas.microsoft.com/office/drawing/2014/main" id="{583A425F-E47F-3CDE-8FA0-B97FD2D2101A}"/>
              </a:ext>
            </a:extLst>
          </p:cNvPr>
          <p:cNvSpPr/>
          <p:nvPr/>
        </p:nvSpPr>
        <p:spPr>
          <a:xfrm>
            <a:off x="4956048" y="2688336"/>
            <a:ext cx="2596896" cy="0"/>
          </a:xfrm>
          <a:prstGeom prst="line">
            <a:avLst/>
          </a:prstGeom>
          <a:noFill/>
          <a:ln w="12700">
            <a:solidFill>
              <a:srgbClr val="E4E4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7" name="Text 16">
            <a:extLst>
              <a:ext uri="{FF2B5EF4-FFF2-40B4-BE49-F238E27FC236}">
                <a16:creationId xmlns:a16="http://schemas.microsoft.com/office/drawing/2014/main" id="{672E38E0-9032-9090-E9F9-CB1D8FDB9975}"/>
              </a:ext>
            </a:extLst>
          </p:cNvPr>
          <p:cNvSpPr/>
          <p:nvPr/>
        </p:nvSpPr>
        <p:spPr>
          <a:xfrm>
            <a:off x="4809744" y="2907792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666666"/>
                </a:solidFill>
              </a:rPr>
              <a:t>Barrier</a:t>
            </a:r>
            <a:endParaRPr lang="en-US" sz="1000" dirty="0"/>
          </a:p>
        </p:txBody>
      </p:sp>
      <p:sp>
        <p:nvSpPr>
          <p:cNvPr id="99" name="Text 17">
            <a:extLst>
              <a:ext uri="{FF2B5EF4-FFF2-40B4-BE49-F238E27FC236}">
                <a16:creationId xmlns:a16="http://schemas.microsoft.com/office/drawing/2014/main" id="{CF0928D3-9EB0-966E-4F48-16DB3268E273}"/>
              </a:ext>
            </a:extLst>
          </p:cNvPr>
          <p:cNvSpPr/>
          <p:nvPr/>
        </p:nvSpPr>
        <p:spPr>
          <a:xfrm>
            <a:off x="5495544" y="2862072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32323"/>
                </a:solidFill>
              </a:rPr>
              <a:t>Cognitive load</a:t>
            </a:r>
            <a:endParaRPr lang="en-US" sz="1350" dirty="0"/>
          </a:p>
        </p:txBody>
      </p:sp>
      <p:sp>
        <p:nvSpPr>
          <p:cNvPr id="101" name="Text 18">
            <a:extLst>
              <a:ext uri="{FF2B5EF4-FFF2-40B4-BE49-F238E27FC236}">
                <a16:creationId xmlns:a16="http://schemas.microsoft.com/office/drawing/2014/main" id="{9D7A4875-991D-9C97-FF2A-892B801A83B4}"/>
              </a:ext>
            </a:extLst>
          </p:cNvPr>
          <p:cNvSpPr/>
          <p:nvPr/>
        </p:nvSpPr>
        <p:spPr>
          <a:xfrm>
            <a:off x="4809744" y="3401568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666666"/>
                </a:solidFill>
              </a:rPr>
              <a:t>Move</a:t>
            </a:r>
            <a:endParaRPr lang="en-US" sz="1000" dirty="0"/>
          </a:p>
        </p:txBody>
      </p:sp>
      <p:sp>
        <p:nvSpPr>
          <p:cNvPr id="103" name="Text 19">
            <a:extLst>
              <a:ext uri="{FF2B5EF4-FFF2-40B4-BE49-F238E27FC236}">
                <a16:creationId xmlns:a16="http://schemas.microsoft.com/office/drawing/2014/main" id="{F8B51922-01F3-B817-D7E0-A4117F83B1BA}"/>
              </a:ext>
            </a:extLst>
          </p:cNvPr>
          <p:cNvSpPr/>
          <p:nvPr/>
        </p:nvSpPr>
        <p:spPr>
          <a:xfrm>
            <a:off x="5495544" y="3264408"/>
            <a:ext cx="2148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32323"/>
                </a:solidFill>
              </a:rPr>
              <a:t>Reduce + organize</a:t>
            </a:r>
            <a:endParaRPr lang="en-US" sz="1300" dirty="0"/>
          </a:p>
        </p:txBody>
      </p:sp>
      <p:sp>
        <p:nvSpPr>
          <p:cNvPr id="105" name="Shape 20">
            <a:extLst>
              <a:ext uri="{FF2B5EF4-FFF2-40B4-BE49-F238E27FC236}">
                <a16:creationId xmlns:a16="http://schemas.microsoft.com/office/drawing/2014/main" id="{EF95B737-393D-911E-3EB2-13A9CCF49BC8}"/>
              </a:ext>
            </a:extLst>
          </p:cNvPr>
          <p:cNvSpPr/>
          <p:nvPr/>
        </p:nvSpPr>
        <p:spPr>
          <a:xfrm>
            <a:off x="4809744" y="4096512"/>
            <a:ext cx="2880360" cy="786384"/>
          </a:xfrm>
          <a:prstGeom prst="roundRect">
            <a:avLst/>
          </a:prstGeom>
          <a:solidFill>
            <a:srgbClr val="EAF0F4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7" name="Text 21">
            <a:extLst>
              <a:ext uri="{FF2B5EF4-FFF2-40B4-BE49-F238E27FC236}">
                <a16:creationId xmlns:a16="http://schemas.microsoft.com/office/drawing/2014/main" id="{7BDE4985-E366-6818-355B-C62D14C78286}"/>
              </a:ext>
            </a:extLst>
          </p:cNvPr>
          <p:cNvSpPr/>
          <p:nvPr/>
        </p:nvSpPr>
        <p:spPr>
          <a:xfrm>
            <a:off x="4956048" y="4261104"/>
            <a:ext cx="258775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232323"/>
                </a:solidFill>
              </a:rPr>
              <a:t>Fewer ideas, clearer structure, retrieval pauses</a:t>
            </a:r>
            <a:endParaRPr lang="en-US" sz="1150" dirty="0"/>
          </a:p>
        </p:txBody>
      </p:sp>
      <p:sp>
        <p:nvSpPr>
          <p:cNvPr id="109" name="Shape 22">
            <a:extLst>
              <a:ext uri="{FF2B5EF4-FFF2-40B4-BE49-F238E27FC236}">
                <a16:creationId xmlns:a16="http://schemas.microsoft.com/office/drawing/2014/main" id="{83D6B277-4EBD-E695-85BC-81EFDA496907}"/>
              </a:ext>
            </a:extLst>
          </p:cNvPr>
          <p:cNvSpPr/>
          <p:nvPr/>
        </p:nvSpPr>
        <p:spPr>
          <a:xfrm>
            <a:off x="8357616" y="1572768"/>
            <a:ext cx="3429000" cy="3794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1" name="Text 23">
            <a:extLst>
              <a:ext uri="{FF2B5EF4-FFF2-40B4-BE49-F238E27FC236}">
                <a16:creationId xmlns:a16="http://schemas.microsoft.com/office/drawing/2014/main" id="{5AD7421D-11C2-4474-7088-DB6C13C8A48E}"/>
              </a:ext>
            </a:extLst>
          </p:cNvPr>
          <p:cNvSpPr/>
          <p:nvPr/>
        </p:nvSpPr>
        <p:spPr>
          <a:xfrm>
            <a:off x="8586216" y="1856232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F6B4F"/>
                </a:solidFill>
              </a:rPr>
              <a:t>TRANSFER</a:t>
            </a:r>
            <a:endParaRPr lang="en-US" sz="2000" dirty="0"/>
          </a:p>
        </p:txBody>
      </p:sp>
      <p:sp>
        <p:nvSpPr>
          <p:cNvPr id="113" name="Text 24">
            <a:extLst>
              <a:ext uri="{FF2B5EF4-FFF2-40B4-BE49-F238E27FC236}">
                <a16:creationId xmlns:a16="http://schemas.microsoft.com/office/drawing/2014/main" id="{8465AB98-D8F7-FE8A-DA23-053E671058B0}"/>
              </a:ext>
            </a:extLst>
          </p:cNvPr>
          <p:cNvSpPr/>
          <p:nvPr/>
        </p:nvSpPr>
        <p:spPr>
          <a:xfrm>
            <a:off x="8586216" y="2249424"/>
            <a:ext cx="2971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66666"/>
                </a:solidFill>
              </a:rPr>
              <a:t>After learning</a:t>
            </a:r>
            <a:endParaRPr lang="en-US" sz="1050" dirty="0"/>
          </a:p>
        </p:txBody>
      </p:sp>
      <p:sp>
        <p:nvSpPr>
          <p:cNvPr id="115" name="Shape 25">
            <a:extLst>
              <a:ext uri="{FF2B5EF4-FFF2-40B4-BE49-F238E27FC236}">
                <a16:creationId xmlns:a16="http://schemas.microsoft.com/office/drawing/2014/main" id="{5D83E1A5-BD9F-B59E-773C-35F9FBE81334}"/>
              </a:ext>
            </a:extLst>
          </p:cNvPr>
          <p:cNvSpPr/>
          <p:nvPr/>
        </p:nvSpPr>
        <p:spPr>
          <a:xfrm>
            <a:off x="8778240" y="2688336"/>
            <a:ext cx="2596896" cy="0"/>
          </a:xfrm>
          <a:prstGeom prst="line">
            <a:avLst/>
          </a:prstGeom>
          <a:noFill/>
          <a:ln w="12700">
            <a:solidFill>
              <a:srgbClr val="E4E4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7" name="Text 26">
            <a:extLst>
              <a:ext uri="{FF2B5EF4-FFF2-40B4-BE49-F238E27FC236}">
                <a16:creationId xmlns:a16="http://schemas.microsoft.com/office/drawing/2014/main" id="{AF526605-1CD2-6B23-F2D8-2BA17A47991A}"/>
              </a:ext>
            </a:extLst>
          </p:cNvPr>
          <p:cNvSpPr/>
          <p:nvPr/>
        </p:nvSpPr>
        <p:spPr>
          <a:xfrm>
            <a:off x="8631936" y="2907792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666666"/>
                </a:solidFill>
              </a:rPr>
              <a:t>Barrier</a:t>
            </a:r>
            <a:endParaRPr lang="en-US" sz="1000" dirty="0"/>
          </a:p>
        </p:txBody>
      </p:sp>
      <p:sp>
        <p:nvSpPr>
          <p:cNvPr id="119" name="Text 27">
            <a:extLst>
              <a:ext uri="{FF2B5EF4-FFF2-40B4-BE49-F238E27FC236}">
                <a16:creationId xmlns:a16="http://schemas.microsoft.com/office/drawing/2014/main" id="{BC43BAD7-32CD-9911-F851-03B5FE59FD0A}"/>
              </a:ext>
            </a:extLst>
          </p:cNvPr>
          <p:cNvSpPr/>
          <p:nvPr/>
        </p:nvSpPr>
        <p:spPr>
          <a:xfrm>
            <a:off x="9317736" y="2862072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32323"/>
                </a:solidFill>
              </a:rPr>
              <a:t>Transfer</a:t>
            </a:r>
            <a:endParaRPr lang="en-US" sz="1350" dirty="0"/>
          </a:p>
        </p:txBody>
      </p:sp>
      <p:sp>
        <p:nvSpPr>
          <p:cNvPr id="121" name="Text 28">
            <a:extLst>
              <a:ext uri="{FF2B5EF4-FFF2-40B4-BE49-F238E27FC236}">
                <a16:creationId xmlns:a16="http://schemas.microsoft.com/office/drawing/2014/main" id="{644A4AAD-54F4-7224-AC16-5F42C56FE310}"/>
              </a:ext>
            </a:extLst>
          </p:cNvPr>
          <p:cNvSpPr/>
          <p:nvPr/>
        </p:nvSpPr>
        <p:spPr>
          <a:xfrm>
            <a:off x="8631936" y="3401568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666666"/>
                </a:solidFill>
              </a:rPr>
              <a:t>Move</a:t>
            </a:r>
            <a:endParaRPr lang="en-US" sz="1000" dirty="0"/>
          </a:p>
        </p:txBody>
      </p:sp>
      <p:sp>
        <p:nvSpPr>
          <p:cNvPr id="123" name="Text 29">
            <a:extLst>
              <a:ext uri="{FF2B5EF4-FFF2-40B4-BE49-F238E27FC236}">
                <a16:creationId xmlns:a16="http://schemas.microsoft.com/office/drawing/2014/main" id="{C6812F75-42E2-073A-189A-F49CFECAF9FF}"/>
              </a:ext>
            </a:extLst>
          </p:cNvPr>
          <p:cNvSpPr/>
          <p:nvPr/>
        </p:nvSpPr>
        <p:spPr>
          <a:xfrm>
            <a:off x="9317736" y="3264408"/>
            <a:ext cx="2148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32323"/>
                </a:solidFill>
              </a:rPr>
              <a:t>Practice across contexts</a:t>
            </a:r>
            <a:endParaRPr lang="en-US" sz="1300" dirty="0"/>
          </a:p>
        </p:txBody>
      </p:sp>
      <p:sp>
        <p:nvSpPr>
          <p:cNvPr id="125" name="Shape 30">
            <a:extLst>
              <a:ext uri="{FF2B5EF4-FFF2-40B4-BE49-F238E27FC236}">
                <a16:creationId xmlns:a16="http://schemas.microsoft.com/office/drawing/2014/main" id="{45D18F0D-66AB-260F-D677-CCF837601EBA}"/>
              </a:ext>
            </a:extLst>
          </p:cNvPr>
          <p:cNvSpPr/>
          <p:nvPr/>
        </p:nvSpPr>
        <p:spPr>
          <a:xfrm>
            <a:off x="8631936" y="4096512"/>
            <a:ext cx="2880360" cy="786384"/>
          </a:xfrm>
          <a:prstGeom prst="roundRect">
            <a:avLst/>
          </a:prstGeom>
          <a:solidFill>
            <a:srgbClr val="E9F2ED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7" name="Text 31">
            <a:extLst>
              <a:ext uri="{FF2B5EF4-FFF2-40B4-BE49-F238E27FC236}">
                <a16:creationId xmlns:a16="http://schemas.microsoft.com/office/drawing/2014/main" id="{57C871E1-930D-639E-5420-818F0FF8CCB6}"/>
              </a:ext>
            </a:extLst>
          </p:cNvPr>
          <p:cNvSpPr/>
          <p:nvPr/>
        </p:nvSpPr>
        <p:spPr>
          <a:xfrm>
            <a:off x="8778240" y="4261104"/>
            <a:ext cx="258775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232323"/>
                </a:solidFill>
              </a:rPr>
              <a:t>Change the case, not the underlying principle</a:t>
            </a:r>
            <a:endParaRPr lang="en-US" sz="1150" dirty="0"/>
          </a:p>
        </p:txBody>
      </p:sp>
      <p:sp>
        <p:nvSpPr>
          <p:cNvPr id="129" name="Text 32">
            <a:extLst>
              <a:ext uri="{FF2B5EF4-FFF2-40B4-BE49-F238E27FC236}">
                <a16:creationId xmlns:a16="http://schemas.microsoft.com/office/drawing/2014/main" id="{74A542AE-D9F8-2E71-B197-1631F9AEE23C}"/>
              </a:ext>
            </a:extLst>
          </p:cNvPr>
          <p:cNvSpPr/>
          <p:nvPr/>
        </p:nvSpPr>
        <p:spPr>
          <a:xfrm>
            <a:off x="960120" y="5632704"/>
            <a:ext cx="10241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666666"/>
                </a:solidFill>
              </a:rPr>
              <a:t>For transfer, the Cross Academy recommends being explicit, focusing on core concepts, and giving practice across different cases.</a:t>
            </a:r>
            <a:endParaRPr lang="en-US" sz="1150" dirty="0"/>
          </a:p>
        </p:txBody>
      </p:sp>
    </p:spTree>
    <p:extLst>
      <p:ext uri="{BB962C8B-B14F-4D97-AF65-F5344CB8AC3E}">
        <p14:creationId xmlns:p14="http://schemas.microsoft.com/office/powerpoint/2010/main" val="4266800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1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1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1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1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1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1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1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9" grpId="0" animBg="1"/>
      <p:bldP spid="91" grpId="0" animBg="1"/>
      <p:bldP spid="93" grpId="0" animBg="1"/>
      <p:bldP spid="95" grpId="0" animBg="1"/>
      <p:bldP spid="97" grpId="0" animBg="1"/>
      <p:bldP spid="99" grpId="0" animBg="1"/>
      <p:bldP spid="101" grpId="0" animBg="1"/>
      <p:bldP spid="103" grpId="0" animBg="1"/>
      <p:bldP spid="105" grpId="0" animBg="1"/>
      <p:bldP spid="107" grpId="0" animBg="1"/>
      <p:bldP spid="109" grpId="0" animBg="1"/>
      <p:bldP spid="111" grpId="0" animBg="1"/>
      <p:bldP spid="113" grpId="0" animBg="1"/>
      <p:bldP spid="115" grpId="0" animBg="1"/>
      <p:bldP spid="117" grpId="0" animBg="1"/>
      <p:bldP spid="119" grpId="0" animBg="1"/>
      <p:bldP spid="121" grpId="0" animBg="1"/>
      <p:bldP spid="123" grpId="0" animBg="1"/>
      <p:bldP spid="125" grpId="0" animBg="1"/>
      <p:bldP spid="127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569CD1-388D-49B5-A8D4-61FCF0AEAA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799" y="364116"/>
            <a:ext cx="10515600" cy="1325563"/>
          </a:xfrm>
        </p:spPr>
        <p:txBody>
          <a:bodyPr/>
          <a:lstStyle/>
          <a:p>
            <a:r>
              <a:rPr lang="en-US" dirty="0"/>
              <a:t>Returning to Maya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D23FBEF-D631-53A1-0C3D-E8B5154ECC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B9DE9F-8B04-4C5E-BF82-97AB5AC7190B}" type="slidenum">
              <a:rPr lang="en-US" smtClean="0"/>
              <a:t>9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C24BB75-6B76-D26C-4BF9-A64259C9DE91}"/>
              </a:ext>
            </a:extLst>
          </p:cNvPr>
          <p:cNvSpPr txBox="1"/>
          <p:nvPr/>
        </p:nvSpPr>
        <p:spPr>
          <a:xfrm>
            <a:off x="685799" y="141779"/>
            <a:ext cx="276248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i="1" dirty="0">
                <a:solidFill>
                  <a:schemeClr val="bg2">
                    <a:lumMod val="25000"/>
                  </a:schemeClr>
                </a:solidFill>
              </a:rPr>
              <a:t>Understanding Student Learning</a:t>
            </a:r>
          </a:p>
        </p:txBody>
      </p:sp>
      <p:sp>
        <p:nvSpPr>
          <p:cNvPr id="9" name="Text 1">
            <a:extLst>
              <a:ext uri="{FF2B5EF4-FFF2-40B4-BE49-F238E27FC236}">
                <a16:creationId xmlns:a16="http://schemas.microsoft.com/office/drawing/2014/main" id="{FD3806EA-7BD4-C37C-5CCB-62E9CFC01101}"/>
              </a:ext>
            </a:extLst>
          </p:cNvPr>
          <p:cNvSpPr/>
          <p:nvPr/>
        </p:nvSpPr>
        <p:spPr>
          <a:xfrm>
            <a:off x="804672" y="1170432"/>
            <a:ext cx="10789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changed in your answer?</a:t>
            </a:r>
            <a:endParaRPr lang="en-US" sz="1400" dirty="0"/>
          </a:p>
        </p:txBody>
      </p:sp>
      <p:sp>
        <p:nvSpPr>
          <p:cNvPr id="11" name="Shape 2">
            <a:extLst>
              <a:ext uri="{FF2B5EF4-FFF2-40B4-BE49-F238E27FC236}">
                <a16:creationId xmlns:a16="http://schemas.microsoft.com/office/drawing/2014/main" id="{4F186A43-F52F-BCE0-3E5F-058CF191C8EC}"/>
              </a:ext>
            </a:extLst>
          </p:cNvPr>
          <p:cNvSpPr/>
          <p:nvPr/>
        </p:nvSpPr>
        <p:spPr>
          <a:xfrm>
            <a:off x="713232" y="1481328"/>
            <a:ext cx="4983480" cy="444398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2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7">
            <a:extLst>
              <a:ext uri="{FF2B5EF4-FFF2-40B4-BE49-F238E27FC236}">
                <a16:creationId xmlns:a16="http://schemas.microsoft.com/office/drawing/2014/main" id="{72B2A402-33E1-C6B2-B425-E6D1A0B1AE9D}"/>
              </a:ext>
            </a:extLst>
          </p:cNvPr>
          <p:cNvSpPr/>
          <p:nvPr/>
        </p:nvSpPr>
        <p:spPr>
          <a:xfrm>
            <a:off x="1234440" y="4369867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232323"/>
                </a:solidFill>
              </a:rPr>
              <a:t>88% on the test</a:t>
            </a:r>
            <a:endParaRPr lang="en-US" sz="2800" dirty="0"/>
          </a:p>
        </p:txBody>
      </p:sp>
      <p:sp>
        <p:nvSpPr>
          <p:cNvPr id="15" name="Text 8">
            <a:extLst>
              <a:ext uri="{FF2B5EF4-FFF2-40B4-BE49-F238E27FC236}">
                <a16:creationId xmlns:a16="http://schemas.microsoft.com/office/drawing/2014/main" id="{C40F7AA6-3BBA-F78B-6E28-0FA7EA149921}"/>
              </a:ext>
            </a:extLst>
          </p:cNvPr>
          <p:cNvSpPr/>
          <p:nvPr/>
        </p:nvSpPr>
        <p:spPr>
          <a:xfrm>
            <a:off x="1234440" y="4875361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9E1B32"/>
                </a:solidFill>
              </a:rPr>
              <a:t>Could not use it later</a:t>
            </a:r>
            <a:endParaRPr lang="en-US" sz="2800" dirty="0"/>
          </a:p>
        </p:txBody>
      </p:sp>
      <p:sp>
        <p:nvSpPr>
          <p:cNvPr id="17" name="Text 9">
            <a:extLst>
              <a:ext uri="{FF2B5EF4-FFF2-40B4-BE49-F238E27FC236}">
                <a16:creationId xmlns:a16="http://schemas.microsoft.com/office/drawing/2014/main" id="{8EF32716-7C58-F15F-47B0-4CF758BCD0BB}"/>
              </a:ext>
            </a:extLst>
          </p:cNvPr>
          <p:cNvSpPr/>
          <p:nvPr/>
        </p:nvSpPr>
        <p:spPr>
          <a:xfrm>
            <a:off x="1234440" y="5330952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232323"/>
                </a:solidFill>
              </a:rPr>
              <a:t>Did Maya learn?</a:t>
            </a:r>
            <a:endParaRPr lang="en-US" sz="2600" dirty="0"/>
          </a:p>
        </p:txBody>
      </p:sp>
      <p:sp>
        <p:nvSpPr>
          <p:cNvPr id="19" name="Shape 10">
            <a:extLst>
              <a:ext uri="{FF2B5EF4-FFF2-40B4-BE49-F238E27FC236}">
                <a16:creationId xmlns:a16="http://schemas.microsoft.com/office/drawing/2014/main" id="{D5B980BC-EE79-6DA3-071B-4504D2BE33F1}"/>
              </a:ext>
            </a:extLst>
          </p:cNvPr>
          <p:cNvSpPr/>
          <p:nvPr/>
        </p:nvSpPr>
        <p:spPr>
          <a:xfrm>
            <a:off x="6080760" y="1481328"/>
            <a:ext cx="5349240" cy="2157984"/>
          </a:xfrm>
          <a:prstGeom prst="roundRect">
            <a:avLst/>
          </a:prstGeom>
          <a:solidFill>
            <a:srgbClr val="F5E8EC"/>
          </a:solidFill>
          <a:ln w="12700">
            <a:solidFill>
              <a:srgbClr val="E6C5C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1">
            <a:extLst>
              <a:ext uri="{FF2B5EF4-FFF2-40B4-BE49-F238E27FC236}">
                <a16:creationId xmlns:a16="http://schemas.microsoft.com/office/drawing/2014/main" id="{C73E4B59-1B14-44CA-D38D-F1A313FA4EF1}"/>
              </a:ext>
            </a:extLst>
          </p:cNvPr>
          <p:cNvSpPr/>
          <p:nvPr/>
        </p:nvSpPr>
        <p:spPr>
          <a:xfrm>
            <a:off x="6417820" y="1689679"/>
            <a:ext cx="4647687" cy="6511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9E1B32"/>
                </a:solidFill>
              </a:rPr>
              <a:t>Learning is more than having information.</a:t>
            </a:r>
            <a:endParaRPr lang="en-US" sz="2800" dirty="0"/>
          </a:p>
        </p:txBody>
      </p:sp>
      <p:sp>
        <p:nvSpPr>
          <p:cNvPr id="23" name="Text 12">
            <a:extLst>
              <a:ext uri="{FF2B5EF4-FFF2-40B4-BE49-F238E27FC236}">
                <a16:creationId xmlns:a16="http://schemas.microsoft.com/office/drawing/2014/main" id="{9861F77D-C89C-061C-4BDB-5138519CF8FF}"/>
              </a:ext>
            </a:extLst>
          </p:cNvPr>
          <p:cNvSpPr/>
          <p:nvPr/>
        </p:nvSpPr>
        <p:spPr>
          <a:xfrm>
            <a:off x="6537960" y="2615183"/>
            <a:ext cx="4453128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dirty="0">
                <a:solidFill>
                  <a:srgbClr val="232323"/>
                </a:solidFill>
              </a:rPr>
              <a:t>It is developing or changing knowledge, skills, attitudes, values, or behavior - and being able to use what changes.</a:t>
            </a:r>
            <a:endParaRPr lang="en-US" dirty="0"/>
          </a:p>
        </p:txBody>
      </p:sp>
      <p:sp>
        <p:nvSpPr>
          <p:cNvPr id="25" name="Text 13">
            <a:extLst>
              <a:ext uri="{FF2B5EF4-FFF2-40B4-BE49-F238E27FC236}">
                <a16:creationId xmlns:a16="http://schemas.microsoft.com/office/drawing/2014/main" id="{8F483ED1-0774-ABE5-6E4B-B227EBE258F8}"/>
              </a:ext>
            </a:extLst>
          </p:cNvPr>
          <p:cNvSpPr/>
          <p:nvPr/>
        </p:nvSpPr>
        <p:spPr>
          <a:xfrm>
            <a:off x="6370833" y="4108463"/>
            <a:ext cx="5349240" cy="9068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232323"/>
                </a:solidFill>
              </a:rPr>
              <a:t>ACTIVATE     CHUNK     TRANSFER</a:t>
            </a:r>
            <a:endParaRPr lang="en-US" sz="2600" dirty="0"/>
          </a:p>
        </p:txBody>
      </p:sp>
      <p:sp>
        <p:nvSpPr>
          <p:cNvPr id="27" name="Shape 14">
            <a:extLst>
              <a:ext uri="{FF2B5EF4-FFF2-40B4-BE49-F238E27FC236}">
                <a16:creationId xmlns:a16="http://schemas.microsoft.com/office/drawing/2014/main" id="{220B4B90-F996-B01B-9F6C-6913A1CCEC3C}"/>
              </a:ext>
            </a:extLst>
          </p:cNvPr>
          <p:cNvSpPr/>
          <p:nvPr/>
        </p:nvSpPr>
        <p:spPr>
          <a:xfrm>
            <a:off x="6720839" y="4875361"/>
            <a:ext cx="4041648" cy="0"/>
          </a:xfrm>
          <a:prstGeom prst="line">
            <a:avLst/>
          </a:prstGeom>
          <a:noFill/>
          <a:ln w="13970">
            <a:solidFill>
              <a:srgbClr val="D6D6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16">
            <a:extLst>
              <a:ext uri="{FF2B5EF4-FFF2-40B4-BE49-F238E27FC236}">
                <a16:creationId xmlns:a16="http://schemas.microsoft.com/office/drawing/2014/main" id="{08F57917-649E-BFBF-BEDA-B5288DD67613}"/>
              </a:ext>
            </a:extLst>
          </p:cNvPr>
          <p:cNvSpPr/>
          <p:nvPr/>
        </p:nvSpPr>
        <p:spPr>
          <a:xfrm>
            <a:off x="6370833" y="5266944"/>
            <a:ext cx="5059167" cy="5152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32323"/>
                </a:solidFill>
              </a:rPr>
              <a:t>“One change I could make in my own teaching to support learning is…”</a:t>
            </a:r>
            <a:endParaRPr lang="en-US" sz="2000" dirty="0"/>
          </a:p>
        </p:txBody>
      </p:sp>
      <p:pic>
        <p:nvPicPr>
          <p:cNvPr id="33" name="Graphic 32" descr="School girl outline">
            <a:extLst>
              <a:ext uri="{FF2B5EF4-FFF2-40B4-BE49-F238E27FC236}">
                <a16:creationId xmlns:a16="http://schemas.microsoft.com/office/drawing/2014/main" id="{A2D82883-EB03-2477-F997-EBABEFB43B2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478793" y="1308166"/>
            <a:ext cx="3443214" cy="3443214"/>
          </a:xfrm>
          <a:prstGeom prst="rect">
            <a:avLst/>
          </a:prstGeom>
        </p:spPr>
      </p:pic>
      <p:sp>
        <p:nvSpPr>
          <p:cNvPr id="36" name="Arrow: Right 35">
            <a:extLst>
              <a:ext uri="{FF2B5EF4-FFF2-40B4-BE49-F238E27FC236}">
                <a16:creationId xmlns:a16="http://schemas.microsoft.com/office/drawing/2014/main" id="{C18B07FE-356F-46F5-297A-65E3859E9880}"/>
              </a:ext>
            </a:extLst>
          </p:cNvPr>
          <p:cNvSpPr/>
          <p:nvPr/>
        </p:nvSpPr>
        <p:spPr>
          <a:xfrm>
            <a:off x="8141464" y="4539030"/>
            <a:ext cx="164592" cy="45720"/>
          </a:xfrm>
          <a:prstGeom prst="right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Arrow: Right 37">
            <a:extLst>
              <a:ext uri="{FF2B5EF4-FFF2-40B4-BE49-F238E27FC236}">
                <a16:creationId xmlns:a16="http://schemas.microsoft.com/office/drawing/2014/main" id="{D98263CA-3092-95BB-9AB9-C2814061923B}"/>
              </a:ext>
            </a:extLst>
          </p:cNvPr>
          <p:cNvSpPr/>
          <p:nvPr/>
        </p:nvSpPr>
        <p:spPr>
          <a:xfrm>
            <a:off x="9616440" y="4539030"/>
            <a:ext cx="164592" cy="45720"/>
          </a:xfrm>
          <a:prstGeom prst="right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51478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6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 animBg="1"/>
      <p:bldP spid="31" grpId="0" animBg="1"/>
      <p:bldP spid="36" grpId="0" animBg="1"/>
      <p:bldP spid="38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A34918-004D-6CD4-79F4-D38CCEACF7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/>
              <a:t>References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04DCF9-9AA4-6320-0911-BC4991A7B32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3200" dirty="0">
                <a:solidFill>
                  <a:srgbClr val="232323"/>
                </a:solidFill>
              </a:rPr>
              <a:t>Barkley, E. F., &amp; Major, C. H. (2026). Engaged Teaching: A Handbook for College Faculty (2nd ed.), Chapter 3: Understanding Student Learning.</a:t>
            </a:r>
            <a:endParaRPr lang="en-US" sz="3200" dirty="0"/>
          </a:p>
          <a:p>
            <a:r>
              <a:rPr lang="en-US" sz="3000" dirty="0"/>
              <a:t>The K. Patricia Cross Academy.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6DEE18B-443F-4F8D-D356-5CC7A00038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B9DE9F-8B04-4C5E-BF82-97AB5AC7190B}" type="slidenum">
              <a:rPr lang="en-US" smtClean="0"/>
              <a:t>10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4CDCED6-2B0C-3997-1CBF-705C9DE0BB73}"/>
              </a:ext>
            </a:extLst>
          </p:cNvPr>
          <p:cNvSpPr txBox="1"/>
          <p:nvPr/>
        </p:nvSpPr>
        <p:spPr>
          <a:xfrm>
            <a:off x="685799" y="141779"/>
            <a:ext cx="276248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i="1" dirty="0">
                <a:solidFill>
                  <a:schemeClr val="bg2">
                    <a:lumMod val="25000"/>
                  </a:schemeClr>
                </a:solidFill>
              </a:rPr>
              <a:t>Understanding Student Learning</a:t>
            </a:r>
          </a:p>
        </p:txBody>
      </p:sp>
    </p:spTree>
    <p:extLst>
      <p:ext uri="{BB962C8B-B14F-4D97-AF65-F5344CB8AC3E}">
        <p14:creationId xmlns:p14="http://schemas.microsoft.com/office/powerpoint/2010/main" val="25671444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5E2B20-F74A-CDC7-2FE2-F5CC5A8911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07408" y="2848038"/>
            <a:ext cx="3377184" cy="1161923"/>
          </a:xfrm>
        </p:spPr>
        <p:txBody>
          <a:bodyPr/>
          <a:lstStyle/>
          <a:p>
            <a:pPr algn="ctr"/>
            <a:r>
              <a:rPr lang="en-US" dirty="0">
                <a:solidFill>
                  <a:srgbClr val="BC0000"/>
                </a:solidFill>
              </a:rPr>
              <a:t>Thank You!!!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7E71B5A-0A00-18D2-3FC4-7D5E4C9F32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B9DE9F-8B04-4C5E-BF82-97AB5AC7190B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011399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Lines</Template>
  <TotalTime>2194</TotalTime>
  <Words>592</Words>
  <Application>Microsoft Office PowerPoint</Application>
  <PresentationFormat>Widescreen</PresentationFormat>
  <Paragraphs>131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Aptos</vt:lpstr>
      <vt:lpstr>Aptos Display</vt:lpstr>
      <vt:lpstr>Arial</vt:lpstr>
      <vt:lpstr>Office Theme</vt:lpstr>
      <vt:lpstr>Why Didn’t Maya Learn?</vt:lpstr>
      <vt:lpstr>Maya’s background</vt:lpstr>
      <vt:lpstr>Maya’s background</vt:lpstr>
      <vt:lpstr>Table of Content</vt:lpstr>
      <vt:lpstr>Four lenses on learning</vt:lpstr>
      <vt:lpstr>Where can learning break down?</vt:lpstr>
      <vt:lpstr>Diagnosing Maya</vt:lpstr>
      <vt:lpstr>Teach Maya Differently</vt:lpstr>
      <vt:lpstr>Returning to Maya</vt:lpstr>
      <vt:lpstr>References</vt:lpstr>
      <vt:lpstr>Thank You!!!</vt:lpstr>
    </vt:vector>
  </TitlesOfParts>
  <Company>The University of Alabama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Mohammed Yusuf Mujawar</dc:creator>
  <cp:lastModifiedBy>Mohammed Yusuf Mujawar</cp:lastModifiedBy>
  <cp:revision>33</cp:revision>
  <dcterms:created xsi:type="dcterms:W3CDTF">2026-09-09T05:03:24Z</dcterms:created>
  <dcterms:modified xsi:type="dcterms:W3CDTF">2026-09-10T18:15:51Z</dcterms:modified>
</cp:coreProperties>
</file>